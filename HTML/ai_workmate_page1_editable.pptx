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5D8DC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378440" y="347472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SOFTSTONE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301984" y="356616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D92929"/>
                </a:solidFill>
              </a:rPr>
              <a:t>数字转型新动力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69340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69340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457200"/>
            <a:ext cx="36576" cy="448056"/>
          </a:xfrm>
          <a:prstGeom prst="rect">
            <a:avLst/>
          </a:prstGeom>
          <a:solidFill>
            <a:srgbClr val="D92929"/>
          </a:solidFill>
          <a:ln w="12700">
            <a:solidFill>
              <a:srgbClr val="D9292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438912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WorkMate：面向企业的数字员工团队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85039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连接企业知识、业务数据、工作流程与专业角色，让 AI 从辅助问答走向协同工作与任务执行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11448288" cy="393192"/>
          </a:xfrm>
          <a:prstGeom prst="roundRect">
            <a:avLst>
              <a:gd name="adj" fmla="val 9302"/>
            </a:avLst>
          </a:prstGeom>
          <a:solidFill>
            <a:srgbClr val="FFE6E6"/>
          </a:solidFill>
          <a:ln w="8890">
            <a:solidFill>
              <a:srgbClr val="F0B7B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" y="1069848"/>
            <a:ext cx="658368" cy="228600"/>
          </a:xfrm>
          <a:prstGeom prst="rect">
            <a:avLst/>
          </a:prstGeom>
          <a:solidFill>
            <a:srgbClr val="D92929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核心判断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261872" y="1051560"/>
            <a:ext cx="10287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7719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WorkMate 不是一个单点 AI 工具，而是一支能够理解业务、协同工作并交付结果的企业级数字员工团队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490472"/>
            <a:ext cx="3621024" cy="393192"/>
          </a:xfrm>
          <a:prstGeom prst="roundRect">
            <a:avLst>
              <a:gd name="adj" fmla="val 11628"/>
            </a:avLst>
          </a:prstGeom>
          <a:solidFill>
            <a:srgbClr val="D92929"/>
          </a:solidFill>
          <a:ln w="12700">
            <a:solidFill>
              <a:srgbClr val="D9292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" y="1554480"/>
            <a:ext cx="256032" cy="256032"/>
          </a:xfrm>
          <a:prstGeom prst="ellipse">
            <a:avLst/>
          </a:prstGeom>
          <a:solidFill>
            <a:srgbClr val="D92929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" y="15544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04672" y="1536192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回到主线：企业为什么需要数字员工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51376" y="1490472"/>
            <a:ext cx="5029200" cy="393192"/>
          </a:xfrm>
          <a:prstGeom prst="roundRect">
            <a:avLst>
              <a:gd name="adj" fmla="val 11628"/>
            </a:avLst>
          </a:prstGeom>
          <a:solidFill>
            <a:srgbClr val="D92929"/>
          </a:solidFill>
          <a:ln w="12700">
            <a:solidFill>
              <a:srgbClr val="D9292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51960" y="1554480"/>
            <a:ext cx="256032" cy="256032"/>
          </a:xfrm>
          <a:prstGeom prst="ellipse">
            <a:avLst/>
          </a:prstGeom>
          <a:solidFill>
            <a:srgbClr val="D92929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51960" y="15544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90288" y="1536192"/>
            <a:ext cx="4498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更进一步：从问答走向完成工作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400032" y="1490472"/>
            <a:ext cx="2414016" cy="393192"/>
          </a:xfrm>
          <a:prstGeom prst="roundRect">
            <a:avLst>
              <a:gd name="adj" fmla="val 11628"/>
            </a:avLst>
          </a:prstGeom>
          <a:solidFill>
            <a:srgbClr val="D92929"/>
          </a:solidFill>
          <a:ln w="12700">
            <a:solidFill>
              <a:srgbClr val="D9292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500616" y="1554480"/>
            <a:ext cx="256032" cy="256032"/>
          </a:xfrm>
          <a:prstGeom prst="ellipse">
            <a:avLst/>
          </a:prstGeom>
          <a:solidFill>
            <a:srgbClr val="D92929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00616" y="15544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838944" y="1536192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企业级数字员工必须可信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5760" y="1993392"/>
            <a:ext cx="3621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929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把零散事务整合成可衡量的产出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151376" y="1993392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929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从“它能干啥”变成“它干完了”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400032" y="1993392"/>
            <a:ext cx="2414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929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进核心业务的前提条件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65760" y="2340864"/>
            <a:ext cx="36210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30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◆ 企业的制度、经验和业务数据，长期分散在文档、系统和个人手中。AI WorkMate 的目标，是把这些隐性的、因人而异的工作能力组织起来，变成可理解、可协同、可交付的数字员工团队。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4151376" y="2340864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30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◆ 让 Agent 沿着清晰的工作链路，把业务目标转化为计划，把计划转化为协作，把协作转化为可复核、可交付的结果。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9400032" y="2340864"/>
            <a:ext cx="24140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30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◆ 数据安全、流程合规、结果准确，是数字员工进入企业核心业务的三条底线。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365760" y="3127248"/>
            <a:ext cx="3621024" cy="3273552"/>
          </a:xfrm>
          <a:prstGeom prst="roundRect">
            <a:avLst>
              <a:gd name="adj" fmla="val 1676"/>
            </a:avLst>
          </a:prstGeom>
          <a:solidFill>
            <a:srgbClr val="FFFAFA"/>
          </a:solidFill>
          <a:ln w="10160">
            <a:solidFill>
              <a:srgbClr val="D8DC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" y="3246120"/>
            <a:ext cx="3401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D929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从分散的企业信息，到统一的数字员工工作语境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02920" y="3694176"/>
            <a:ext cx="1481328" cy="576072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0160">
            <a:solidFill>
              <a:srgbClr val="E5B3B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3785616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29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企业知识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02920" y="3968496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 / 流程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项目经验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221992" y="3694176"/>
            <a:ext cx="1481328" cy="576072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0160">
            <a:solidFill>
              <a:srgbClr val="E5B3B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21992" y="3785616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29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业务数据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221992" y="3968496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 / 项目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 / 指标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502920" y="5522976"/>
            <a:ext cx="1481328" cy="576072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0160">
            <a:solidFill>
              <a:srgbClr val="E5B3B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5614416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29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岗位能力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02920" y="5797296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 / 执行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审核 / 管理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2221992" y="5522976"/>
            <a:ext cx="1481328" cy="576072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0160">
            <a:solidFill>
              <a:srgbClr val="E5B3B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221992" y="5614416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29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工作成果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221992" y="5797296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 / 方案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 / 决策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1783080" y="4709160"/>
            <a:ext cx="786384" cy="786384"/>
          </a:xfrm>
          <a:prstGeom prst="ellipse">
            <a:avLst/>
          </a:prstGeom>
          <a:solidFill>
            <a:srgbClr val="D92929"/>
          </a:solidFill>
          <a:ln w="12700">
            <a:solidFill>
              <a:srgbClr val="D9292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783080" y="4855464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207008" y="583387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 · 协作 · 执行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151376" y="3127248"/>
            <a:ext cx="5029200" cy="3273552"/>
          </a:xfrm>
          <a:prstGeom prst="roundRect">
            <a:avLst>
              <a:gd name="adj" fmla="val 1676"/>
            </a:avLst>
          </a:prstGeom>
          <a:solidFill>
            <a:srgbClr val="FFFAFA"/>
          </a:solidFill>
          <a:ln w="10160">
            <a:solidFill>
              <a:srgbClr val="D8DCE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297680" y="3255264"/>
            <a:ext cx="2286000" cy="256032"/>
          </a:xfrm>
          <a:prstGeom prst="rect">
            <a:avLst/>
          </a:prstGeom>
          <a:solidFill>
            <a:srgbClr val="D92929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示例：重点客户经营分析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297680" y="3639312"/>
            <a:ext cx="4736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“分析本季度重点客户经营情况，并形成管理层汇报”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297680" y="4169664"/>
            <a:ext cx="795528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6B6B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343400" y="4270248"/>
            <a:ext cx="704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29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理解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361688" y="4526280"/>
            <a:ext cx="667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识别范围、周期、维度</a:t>
            </a:r>
            <a:endParaRPr lang="en-US" sz="720" dirty="0"/>
          </a:p>
        </p:txBody>
      </p:sp>
      <p:sp>
        <p:nvSpPr>
          <p:cNvPr id="49" name="Text 47"/>
          <p:cNvSpPr/>
          <p:nvPr/>
        </p:nvSpPr>
        <p:spPr>
          <a:xfrm>
            <a:off x="5010912" y="4462272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29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5093208" y="4169664"/>
            <a:ext cx="795528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6B6B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138928" y="4270248"/>
            <a:ext cx="704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29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规划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5157216" y="4526280"/>
            <a:ext cx="667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拆解数据与报告任务</a:t>
            </a:r>
            <a:endParaRPr lang="en-US" sz="720" dirty="0"/>
          </a:p>
        </p:txBody>
      </p:sp>
      <p:sp>
        <p:nvSpPr>
          <p:cNvPr id="53" name="Text 51"/>
          <p:cNvSpPr/>
          <p:nvPr/>
        </p:nvSpPr>
        <p:spPr>
          <a:xfrm>
            <a:off x="5806440" y="4462272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29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5888736" y="4169664"/>
            <a:ext cx="795528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6B6B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934456" y="4270248"/>
            <a:ext cx="704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29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协同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5952744" y="4526280"/>
            <a:ext cx="667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多个员工按角色推进</a:t>
            </a:r>
            <a:endParaRPr lang="en-US" sz="720" dirty="0"/>
          </a:p>
        </p:txBody>
      </p:sp>
      <p:sp>
        <p:nvSpPr>
          <p:cNvPr id="57" name="Text 55"/>
          <p:cNvSpPr/>
          <p:nvPr/>
        </p:nvSpPr>
        <p:spPr>
          <a:xfrm>
            <a:off x="6601968" y="4462272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29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1800" dirty="0"/>
          </a:p>
        </p:txBody>
      </p:sp>
      <p:sp>
        <p:nvSpPr>
          <p:cNvPr id="58" name="Shape 56"/>
          <p:cNvSpPr/>
          <p:nvPr/>
        </p:nvSpPr>
        <p:spPr>
          <a:xfrm>
            <a:off x="6684264" y="4169664"/>
            <a:ext cx="795528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6B6B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729984" y="4270248"/>
            <a:ext cx="704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29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执行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6748272" y="4526280"/>
            <a:ext cx="667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调用数据与业务工具</a:t>
            </a:r>
            <a:endParaRPr lang="en-US" sz="720" dirty="0"/>
          </a:p>
        </p:txBody>
      </p:sp>
      <p:sp>
        <p:nvSpPr>
          <p:cNvPr id="61" name="Text 59"/>
          <p:cNvSpPr/>
          <p:nvPr/>
        </p:nvSpPr>
        <p:spPr>
          <a:xfrm>
            <a:off x="7397496" y="4462272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29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1800" dirty="0"/>
          </a:p>
        </p:txBody>
      </p:sp>
      <p:sp>
        <p:nvSpPr>
          <p:cNvPr id="62" name="Shape 60"/>
          <p:cNvSpPr/>
          <p:nvPr/>
        </p:nvSpPr>
        <p:spPr>
          <a:xfrm>
            <a:off x="7479792" y="4169664"/>
            <a:ext cx="795528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6B6B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525512" y="4270248"/>
            <a:ext cx="704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29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校验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7543800" y="4526280"/>
            <a:ext cx="667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检查来源、口径、结论</a:t>
            </a:r>
            <a:endParaRPr lang="en-US" sz="720" dirty="0"/>
          </a:p>
        </p:txBody>
      </p:sp>
      <p:sp>
        <p:nvSpPr>
          <p:cNvPr id="65" name="Text 63"/>
          <p:cNvSpPr/>
          <p:nvPr/>
        </p:nvSpPr>
        <p:spPr>
          <a:xfrm>
            <a:off x="8193024" y="4462272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29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1800" dirty="0"/>
          </a:p>
        </p:txBody>
      </p:sp>
      <p:sp>
        <p:nvSpPr>
          <p:cNvPr id="66" name="Shape 64"/>
          <p:cNvSpPr/>
          <p:nvPr/>
        </p:nvSpPr>
        <p:spPr>
          <a:xfrm>
            <a:off x="8275320" y="4169664"/>
            <a:ext cx="795528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6B6B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321040" y="4270248"/>
            <a:ext cx="704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29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⑥ 交付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8339328" y="4526280"/>
            <a:ext cx="667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输出报告与跟进任务</a:t>
            </a:r>
            <a:endParaRPr lang="en-US" sz="720" dirty="0"/>
          </a:p>
        </p:txBody>
      </p:sp>
      <p:sp>
        <p:nvSpPr>
          <p:cNvPr id="69" name="Text 67"/>
          <p:cNvSpPr/>
          <p:nvPr/>
        </p:nvSpPr>
        <p:spPr>
          <a:xfrm>
            <a:off x="4297680" y="5623560"/>
            <a:ext cx="4736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7719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WorkMate 交付的不是一个答案，而是一项有计划、有依据、有过程、有检查的完整工作。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9400032" y="3127248"/>
            <a:ext cx="2414016" cy="3273552"/>
          </a:xfrm>
          <a:prstGeom prst="roundRect">
            <a:avLst>
              <a:gd name="adj" fmla="val 2273"/>
            </a:avLst>
          </a:prstGeom>
          <a:solidFill>
            <a:srgbClr val="FFFAFA"/>
          </a:solidFill>
          <a:ln w="10160">
            <a:solidFill>
              <a:srgbClr val="D8DCE2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9537192" y="3392424"/>
            <a:ext cx="429768" cy="429768"/>
          </a:xfrm>
          <a:prstGeom prst="ellipse">
            <a:avLst/>
          </a:prstGeom>
          <a:solidFill>
            <a:srgbClr val="D92929"/>
          </a:solidFill>
          <a:ln w="12700">
            <a:solidFill>
              <a:srgbClr val="D92929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9537192" y="3456432"/>
            <a:ext cx="429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⌁</a:t>
            </a:r>
            <a:endParaRPr lang="en-US" sz="1500" dirty="0"/>
          </a:p>
        </p:txBody>
      </p:sp>
      <p:sp>
        <p:nvSpPr>
          <p:cNvPr id="73" name="Text 71"/>
          <p:cNvSpPr/>
          <p:nvPr/>
        </p:nvSpPr>
        <p:spPr>
          <a:xfrm>
            <a:off x="10113264" y="3392424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D929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数据安全</a:t>
            </a:r>
            <a:endParaRPr lang="en-US" sz="1050" dirty="0"/>
          </a:p>
        </p:txBody>
      </p:sp>
      <p:sp>
        <p:nvSpPr>
          <p:cNvPr id="74" name="Text 72"/>
          <p:cNvSpPr/>
          <p:nvPr/>
        </p:nvSpPr>
        <p:spPr>
          <a:xfrm>
            <a:off x="10113264" y="3621024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按用户、岗位、部门和任务控制访问，关键过程全程留痕。</a:t>
            </a:r>
            <a:endParaRPr lang="en-US" sz="740" dirty="0"/>
          </a:p>
        </p:txBody>
      </p:sp>
      <p:sp>
        <p:nvSpPr>
          <p:cNvPr id="75" name="Text 73"/>
          <p:cNvSpPr/>
          <p:nvPr/>
        </p:nvSpPr>
        <p:spPr>
          <a:xfrm>
            <a:off x="10113264" y="4023360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7719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权限治理  ·  访问审计</a:t>
            </a:r>
            <a:endParaRPr lang="en-US" sz="730" dirty="0"/>
          </a:p>
        </p:txBody>
      </p:sp>
      <p:sp>
        <p:nvSpPr>
          <p:cNvPr id="76" name="Shape 74"/>
          <p:cNvSpPr/>
          <p:nvPr/>
        </p:nvSpPr>
        <p:spPr>
          <a:xfrm>
            <a:off x="9537192" y="4416552"/>
            <a:ext cx="429768" cy="429768"/>
          </a:xfrm>
          <a:prstGeom prst="ellipse">
            <a:avLst/>
          </a:prstGeom>
          <a:solidFill>
            <a:srgbClr val="D92929"/>
          </a:solidFill>
          <a:ln w="12700">
            <a:solidFill>
              <a:srgbClr val="D92929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9537192" y="4480560"/>
            <a:ext cx="429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500" dirty="0"/>
          </a:p>
        </p:txBody>
      </p:sp>
      <p:sp>
        <p:nvSpPr>
          <p:cNvPr id="78" name="Text 76"/>
          <p:cNvSpPr/>
          <p:nvPr/>
        </p:nvSpPr>
        <p:spPr>
          <a:xfrm>
            <a:off x="10113264" y="441655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D929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流程合规</a:t>
            </a:r>
            <a:endParaRPr lang="en-US" sz="1050" dirty="0"/>
          </a:p>
        </p:txBody>
      </p:sp>
      <p:sp>
        <p:nvSpPr>
          <p:cNvPr id="79" name="Text 77"/>
          <p:cNvSpPr/>
          <p:nvPr/>
        </p:nvSpPr>
        <p:spPr>
          <a:xfrm>
            <a:off x="10113264" y="4645152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建设中：把制度、审批条件和风险红线变成可执行约束。</a:t>
            </a:r>
            <a:endParaRPr lang="en-US" sz="740" dirty="0"/>
          </a:p>
        </p:txBody>
      </p:sp>
      <p:sp>
        <p:nvSpPr>
          <p:cNvPr id="80" name="Text 78"/>
          <p:cNvSpPr/>
          <p:nvPr/>
        </p:nvSpPr>
        <p:spPr>
          <a:xfrm>
            <a:off x="10113264" y="5047488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7719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规则引擎  ·  流程编排</a:t>
            </a:r>
            <a:endParaRPr lang="en-US" sz="730" dirty="0"/>
          </a:p>
        </p:txBody>
      </p:sp>
      <p:sp>
        <p:nvSpPr>
          <p:cNvPr id="81" name="Shape 79"/>
          <p:cNvSpPr/>
          <p:nvPr/>
        </p:nvSpPr>
        <p:spPr>
          <a:xfrm>
            <a:off x="9537192" y="5440680"/>
            <a:ext cx="429768" cy="429768"/>
          </a:xfrm>
          <a:prstGeom prst="ellipse">
            <a:avLst/>
          </a:prstGeom>
          <a:solidFill>
            <a:srgbClr val="D92929"/>
          </a:solidFill>
          <a:ln w="12700">
            <a:solidFill>
              <a:srgbClr val="D92929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9537192" y="5504688"/>
            <a:ext cx="429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◎</a:t>
            </a:r>
            <a:endParaRPr lang="en-US" sz="1500" dirty="0"/>
          </a:p>
        </p:txBody>
      </p:sp>
      <p:sp>
        <p:nvSpPr>
          <p:cNvPr id="83" name="Text 81"/>
          <p:cNvSpPr/>
          <p:nvPr/>
        </p:nvSpPr>
        <p:spPr>
          <a:xfrm>
            <a:off x="10113264" y="544068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D929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结果准确</a:t>
            </a:r>
            <a:endParaRPr lang="en-US" sz="1050" dirty="0"/>
          </a:p>
        </p:txBody>
      </p:sp>
      <p:sp>
        <p:nvSpPr>
          <p:cNvPr id="84" name="Text 82"/>
          <p:cNvSpPr/>
          <p:nvPr/>
        </p:nvSpPr>
        <p:spPr>
          <a:xfrm>
            <a:off x="10113264" y="5669280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建设中：统一业务对象及关系，让 AI 基于企业语义和真实数据生成结果。</a:t>
            </a:r>
            <a:endParaRPr lang="en-US" sz="740" dirty="0"/>
          </a:p>
        </p:txBody>
      </p:sp>
      <p:sp>
        <p:nvSpPr>
          <p:cNvPr id="85" name="Text 83"/>
          <p:cNvSpPr/>
          <p:nvPr/>
        </p:nvSpPr>
        <p:spPr>
          <a:xfrm>
            <a:off x="10113264" y="6071616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7719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企业本体  ·  结果校验</a:t>
            </a:r>
            <a:endParaRPr lang="en-US" sz="730" dirty="0"/>
          </a:p>
        </p:txBody>
      </p:sp>
      <p:sp>
        <p:nvSpPr>
          <p:cNvPr id="86" name="Shape 84"/>
          <p:cNvSpPr/>
          <p:nvPr/>
        </p:nvSpPr>
        <p:spPr>
          <a:xfrm>
            <a:off x="365760" y="6547104"/>
            <a:ext cx="11448288" cy="384048"/>
          </a:xfrm>
          <a:prstGeom prst="roundRect">
            <a:avLst>
              <a:gd name="adj" fmla="val 7143"/>
            </a:avLst>
          </a:prstGeom>
          <a:solidFill>
            <a:srgbClr val="FFE6E6"/>
          </a:solidFill>
          <a:ln w="8890">
            <a:solidFill>
              <a:srgbClr val="F0B7B7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12064" y="6629400"/>
            <a:ext cx="804672" cy="182880"/>
          </a:xfrm>
          <a:prstGeom prst="rect">
            <a:avLst/>
          </a:prstGeom>
          <a:solidFill>
            <a:srgbClr val="D92929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WorkMate</a:t>
            </a:r>
            <a:endParaRPr lang="en-US" sz="850" dirty="0"/>
          </a:p>
        </p:txBody>
      </p:sp>
      <p:sp>
        <p:nvSpPr>
          <p:cNvPr id="88" name="Text 86"/>
          <p:cNvSpPr/>
          <p:nvPr/>
        </p:nvSpPr>
        <p:spPr>
          <a:xfrm>
            <a:off x="1426464" y="662940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719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面向企业的数字员工团队平台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69340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SoftStone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WorkMate：面向企业的数字员工团队</dc:title>
  <dc:subject>AI WorkMate 企业级数字员工团队</dc:subject>
  <dc:creator>AI WorkMate</dc:creator>
  <cp:lastModifiedBy>AI WorkMate</cp:lastModifiedBy>
  <cp:revision>1</cp:revision>
  <dcterms:created xsi:type="dcterms:W3CDTF">2026-08-26T07:03:39Z</dcterms:created>
  <dcterms:modified xsi:type="dcterms:W3CDTF">2026-08-26T07:03:39Z</dcterms:modified>
</cp:coreProperties>
</file>