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384048"/>
            <a:ext cx="36576" cy="475488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5661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 企业级AI助手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84048" y="76809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不是普通聊天工具，而是可调用工具、处理文件、执行任务的桌面协作助手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78440" y="39319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SOFTSTONE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292840" y="402336"/>
            <a:ext cx="667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E3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数字转型新动力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11448288" cy="393192"/>
          </a:xfrm>
          <a:prstGeom prst="roundRect">
            <a:avLst>
              <a:gd name="adj" fmla="val 9302"/>
            </a:avLst>
          </a:prstGeom>
          <a:solidFill>
            <a:srgbClr val="FFE5E5"/>
          </a:solidFill>
          <a:ln w="8890">
            <a:solidFill>
              <a:srgbClr val="F0B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051560"/>
            <a:ext cx="685800" cy="228600"/>
          </a:xfrm>
          <a:prstGeom prst="rect">
            <a:avLst/>
          </a:prstGeom>
          <a:solidFill>
            <a:srgbClr val="E31B2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80160" y="1042416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9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WorkMate 把 AI 从“对话窗口”带入真实工作现场，让每个岗位都拥有可调用、可协作、可交付的数字工作能力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527048"/>
            <a:ext cx="3054096" cy="384048"/>
          </a:xfrm>
          <a:prstGeom prst="roundRect">
            <a:avLst>
              <a:gd name="adj" fmla="val 11905"/>
            </a:avLst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" y="1591056"/>
            <a:ext cx="256032" cy="256032"/>
          </a:xfrm>
          <a:prstGeom prst="ellipse">
            <a:avLst/>
          </a:prstGeom>
          <a:solidFill>
            <a:srgbClr val="E31B23"/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" y="159562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04672" y="1600200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WorkMate 能力入口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2029968"/>
            <a:ext cx="2907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从理解需求到完成工作，覆盖企业员工日常使用 AI 的关键动作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578608"/>
            <a:ext cx="1444752" cy="667512"/>
          </a:xfrm>
          <a:prstGeom prst="roundRect">
            <a:avLst>
              <a:gd name="adj" fmla="val 8219"/>
            </a:avLst>
          </a:prstGeom>
          <a:solidFill>
            <a:srgbClr val="FFF4F4"/>
          </a:solidFill>
          <a:ln w="10160">
            <a:solidFill>
              <a:srgbClr val="F0C9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3836" y="2670048"/>
            <a:ext cx="228600" cy="228600"/>
          </a:xfrm>
          <a:prstGeom prst="ellipse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3836" y="271119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02336" y="29535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3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新建对话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438912" y="3145536"/>
            <a:ext cx="1298448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围绕任务展开智能协作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快速开启高效沟通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920240" y="2578608"/>
            <a:ext cx="1444752" cy="667512"/>
          </a:xfrm>
          <a:prstGeom prst="roundRect">
            <a:avLst>
              <a:gd name="adj" fmla="val 8219"/>
            </a:avLst>
          </a:prstGeom>
          <a:solidFill>
            <a:srgbClr val="FFF4F4"/>
          </a:solidFill>
          <a:ln w="10160">
            <a:solidFill>
              <a:srgbClr val="F0C9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8316" y="2670048"/>
            <a:ext cx="228600" cy="228600"/>
          </a:xfrm>
          <a:prstGeom prst="ellipse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8316" y="271119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⌘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956816" y="29535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3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岗位技能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1993392" y="3145536"/>
            <a:ext cx="1298448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安装专属技能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提升专业效率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65760" y="3346704"/>
            <a:ext cx="1444752" cy="667512"/>
          </a:xfrm>
          <a:prstGeom prst="roundRect">
            <a:avLst>
              <a:gd name="adj" fmla="val 8219"/>
            </a:avLst>
          </a:prstGeom>
          <a:solidFill>
            <a:srgbClr val="FFF4F4"/>
          </a:solidFill>
          <a:ln w="10160">
            <a:solidFill>
              <a:srgbClr val="F0C9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3836" y="3438144"/>
            <a:ext cx="228600" cy="228600"/>
          </a:xfrm>
          <a:prstGeom prst="ellipse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3836" y="347929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◷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02336" y="37216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3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定时任务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438912" y="3913632"/>
            <a:ext cx="1298448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定时执行任务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自动化不间断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920240" y="3346704"/>
            <a:ext cx="1444752" cy="667512"/>
          </a:xfrm>
          <a:prstGeom prst="roundRect">
            <a:avLst>
              <a:gd name="adj" fmla="val 8219"/>
            </a:avLst>
          </a:prstGeom>
          <a:solidFill>
            <a:srgbClr val="FFF4F4"/>
          </a:solidFill>
          <a:ln w="10160">
            <a:solidFill>
              <a:srgbClr val="F0C9C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28316" y="3438144"/>
            <a:ext cx="228600" cy="228600"/>
          </a:xfrm>
          <a:prstGeom prst="ellipse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28316" y="347929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956816" y="37216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3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1993392" y="3913632"/>
            <a:ext cx="1298448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多人协同合作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提升团队效能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65760" y="4114800"/>
            <a:ext cx="1444752" cy="667512"/>
          </a:xfrm>
          <a:prstGeom prst="roundRect">
            <a:avLst>
              <a:gd name="adj" fmla="val 8219"/>
            </a:avLst>
          </a:prstGeom>
          <a:solidFill>
            <a:srgbClr val="FFF4F4"/>
          </a:solidFill>
          <a:ln w="10160">
            <a:solidFill>
              <a:srgbClr val="F0C9C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73836" y="4206240"/>
            <a:ext cx="228600" cy="228600"/>
          </a:xfrm>
          <a:prstGeom prst="ellipse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3836" y="424738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02336" y="44897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3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 Skill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438912" y="4681728"/>
            <a:ext cx="1298448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将岗位经验沉淀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为可复用能力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920240" y="4114800"/>
            <a:ext cx="1444752" cy="667512"/>
          </a:xfrm>
          <a:prstGeom prst="roundRect">
            <a:avLst>
              <a:gd name="adj" fmla="val 8219"/>
            </a:avLst>
          </a:prstGeom>
          <a:solidFill>
            <a:srgbClr val="FFF4F4"/>
          </a:solidFill>
          <a:ln w="10160">
            <a:solidFill>
              <a:srgbClr val="F0C9C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28316" y="4206240"/>
            <a:ext cx="228600" cy="228600"/>
          </a:xfrm>
          <a:prstGeom prst="ellipse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28316" y="424738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↗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956816" y="44897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3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工具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1993392" y="4681728"/>
            <a:ext cx="1298448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连接外部系统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扩展执行边界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65760" y="4937760"/>
            <a:ext cx="3054096" cy="822960"/>
          </a:xfrm>
          <a:prstGeom prst="roundRect">
            <a:avLst>
              <a:gd name="adj" fmla="val 6667"/>
            </a:avLst>
          </a:prstGeom>
          <a:solidFill>
            <a:srgbClr val="FFFAFA"/>
          </a:solidFill>
          <a:ln w="10160">
            <a:solidFill>
              <a:srgbClr val="EFBAB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" y="5065776"/>
            <a:ext cx="2816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A9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WorkMate 的核心不是“聊得更像人”，而是让 AI 真正参与工作：理解目标、使用工具、处理文件，并把结果交付出来。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529584" y="1527048"/>
            <a:ext cx="4041648" cy="2414016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0160">
            <a:solidFill>
              <a:srgbClr val="F0C9C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39312" y="1645920"/>
            <a:ext cx="338328" cy="274320"/>
          </a:xfrm>
          <a:prstGeom prst="roundRect">
            <a:avLst>
              <a:gd name="adj" fmla="val 16667"/>
            </a:avLst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39312" y="1691640"/>
            <a:ext cx="338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059936" y="165506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3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岗位技能与多格式产出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059936" y="18745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调用岗位技能完成 PPT、Excel、Word、PDF、HTML 等任务</a:t>
            </a:r>
            <a:endParaRPr lang="en-US" sz="740" dirty="0"/>
          </a:p>
        </p:txBody>
      </p:sp>
      <p:pic>
        <p:nvPicPr>
          <p:cNvPr id="52" name="Image 0" descr="docs/screenshot-eg/Worker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8456" y="2194560"/>
            <a:ext cx="3803904" cy="1618488"/>
          </a:xfrm>
          <a:prstGeom prst="rect">
            <a:avLst/>
          </a:prstGeom>
        </p:spPr>
      </p:pic>
      <p:sp>
        <p:nvSpPr>
          <p:cNvPr id="53" name="Shape 50"/>
          <p:cNvSpPr/>
          <p:nvPr/>
        </p:nvSpPr>
        <p:spPr>
          <a:xfrm>
            <a:off x="7717536" y="1527048"/>
            <a:ext cx="4096512" cy="2414016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0160">
            <a:solidFill>
              <a:srgbClr val="F0C9CA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827264" y="1645920"/>
            <a:ext cx="338328" cy="274320"/>
          </a:xfrm>
          <a:prstGeom prst="roundRect">
            <a:avLst>
              <a:gd name="adj" fmla="val 16667"/>
            </a:avLst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827264" y="1691640"/>
            <a:ext cx="338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8247888" y="1655064"/>
            <a:ext cx="3438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3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工具集成与能力扩展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8247888" y="1874520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MCP 工具连接企业系统和外部服务，扩展数字员工执行边界</a:t>
            </a:r>
            <a:endParaRPr lang="en-US" sz="740" dirty="0"/>
          </a:p>
        </p:txBody>
      </p:sp>
      <p:pic>
        <p:nvPicPr>
          <p:cNvPr id="58" name="Image 1" descr="docs/screenshot-eg/Toolset_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408" y="2194560"/>
            <a:ext cx="3858768" cy="1618488"/>
          </a:xfrm>
          <a:prstGeom prst="rect">
            <a:avLst/>
          </a:prstGeom>
        </p:spPr>
      </p:pic>
      <p:sp>
        <p:nvSpPr>
          <p:cNvPr id="59" name="Shape 55"/>
          <p:cNvSpPr/>
          <p:nvPr/>
        </p:nvSpPr>
        <p:spPr>
          <a:xfrm>
            <a:off x="3529584" y="4087368"/>
            <a:ext cx="2670048" cy="2313432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0160">
            <a:solidFill>
              <a:srgbClr val="F0C9CA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3639312" y="4206240"/>
            <a:ext cx="338328" cy="274320"/>
          </a:xfrm>
          <a:prstGeom prst="roundRect">
            <a:avLst>
              <a:gd name="adj" fmla="val 16667"/>
            </a:avLst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3639312" y="4251960"/>
            <a:ext cx="338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62" name="Text 58"/>
          <p:cNvSpPr/>
          <p:nvPr/>
        </p:nvSpPr>
        <p:spPr>
          <a:xfrm>
            <a:off x="4059936" y="42153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3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团队协作与计划执行</a:t>
            </a:r>
            <a:endParaRPr lang="en-US" sz="1100" dirty="0"/>
          </a:p>
        </p:txBody>
      </p:sp>
      <p:sp>
        <p:nvSpPr>
          <p:cNvPr id="63" name="Text 59"/>
          <p:cNvSpPr/>
          <p:nvPr/>
        </p:nvSpPr>
        <p:spPr>
          <a:xfrm>
            <a:off x="4059936" y="44348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支持多 Agent 协作、任务拆解与计划执行</a:t>
            </a:r>
            <a:endParaRPr lang="en-US" sz="740" dirty="0"/>
          </a:p>
        </p:txBody>
      </p:sp>
      <p:pic>
        <p:nvPicPr>
          <p:cNvPr id="64" name="Image 2" descr="docs/screenshot-eg/ch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456" y="4754880"/>
            <a:ext cx="2432304" cy="1517904"/>
          </a:xfrm>
          <a:prstGeom prst="rect">
            <a:avLst/>
          </a:prstGeom>
        </p:spPr>
      </p:pic>
      <p:sp>
        <p:nvSpPr>
          <p:cNvPr id="65" name="Shape 60"/>
          <p:cNvSpPr/>
          <p:nvPr/>
        </p:nvSpPr>
        <p:spPr>
          <a:xfrm>
            <a:off x="6336792" y="4087368"/>
            <a:ext cx="2670048" cy="2313432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0160">
            <a:solidFill>
              <a:srgbClr val="F0C9CA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6446520" y="4206240"/>
            <a:ext cx="338328" cy="274320"/>
          </a:xfrm>
          <a:prstGeom prst="roundRect">
            <a:avLst>
              <a:gd name="adj" fmla="val 16667"/>
            </a:avLst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6446520" y="4251960"/>
            <a:ext cx="338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68" name="Text 63"/>
          <p:cNvSpPr/>
          <p:nvPr/>
        </p:nvSpPr>
        <p:spPr>
          <a:xfrm>
            <a:off x="6867144" y="42153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3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与能力沉淀</a:t>
            </a:r>
            <a:endParaRPr lang="en-US" sz="1100" dirty="0"/>
          </a:p>
        </p:txBody>
      </p:sp>
      <p:sp>
        <p:nvSpPr>
          <p:cNvPr id="69" name="Text 64"/>
          <p:cNvSpPr/>
          <p:nvPr/>
        </p:nvSpPr>
        <p:spPr>
          <a:xfrm>
            <a:off x="6867144" y="44348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将岗位经验和工作方法沉淀为可复用 Skill</a:t>
            </a:r>
            <a:endParaRPr lang="en-US" sz="740" dirty="0"/>
          </a:p>
        </p:txBody>
      </p:sp>
      <p:pic>
        <p:nvPicPr>
          <p:cNvPr id="70" name="Image 3" descr="docs/screenshot-eg/Skill_Li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4754880"/>
            <a:ext cx="2432304" cy="1517904"/>
          </a:xfrm>
          <a:prstGeom prst="rect">
            <a:avLst/>
          </a:prstGeom>
        </p:spPr>
      </p:pic>
      <p:sp>
        <p:nvSpPr>
          <p:cNvPr id="71" name="Shape 65"/>
          <p:cNvSpPr/>
          <p:nvPr/>
        </p:nvSpPr>
        <p:spPr>
          <a:xfrm>
            <a:off x="9144000" y="4087368"/>
            <a:ext cx="2670048" cy="2313432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0160">
            <a:solidFill>
              <a:srgbClr val="F0C9CA"/>
            </a:solidFill>
            <a:prstDash val="solid"/>
          </a:ln>
        </p:spPr>
      </p:sp>
      <p:sp>
        <p:nvSpPr>
          <p:cNvPr id="72" name="Shape 66"/>
          <p:cNvSpPr/>
          <p:nvPr/>
        </p:nvSpPr>
        <p:spPr>
          <a:xfrm>
            <a:off x="9253728" y="4206240"/>
            <a:ext cx="338328" cy="274320"/>
          </a:xfrm>
          <a:prstGeom prst="roundRect">
            <a:avLst>
              <a:gd name="adj" fmla="val 16667"/>
            </a:avLst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73" name="Text 67"/>
          <p:cNvSpPr/>
          <p:nvPr/>
        </p:nvSpPr>
        <p:spPr>
          <a:xfrm>
            <a:off x="9253728" y="4251960"/>
            <a:ext cx="338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  <p:sp>
        <p:nvSpPr>
          <p:cNvPr id="74" name="Text 68"/>
          <p:cNvSpPr/>
          <p:nvPr/>
        </p:nvSpPr>
        <p:spPr>
          <a:xfrm>
            <a:off x="9674352" y="42153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3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知识库与工作上下文</a:t>
            </a:r>
            <a:endParaRPr lang="en-US" sz="1100" dirty="0"/>
          </a:p>
        </p:txBody>
      </p:sp>
      <p:sp>
        <p:nvSpPr>
          <p:cNvPr id="75" name="Text 69"/>
          <p:cNvSpPr/>
          <p:nvPr/>
        </p:nvSpPr>
        <p:spPr>
          <a:xfrm>
            <a:off x="9674352" y="44348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统一管理企业知识，让数字员工基于可信内容工作</a:t>
            </a:r>
            <a:endParaRPr lang="en-US" sz="740" dirty="0"/>
          </a:p>
        </p:txBody>
      </p:sp>
      <p:pic>
        <p:nvPicPr>
          <p:cNvPr id="76" name="Image 4" descr="docs/screenshot-eg/KB_Li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2872" y="4754880"/>
            <a:ext cx="2432304" cy="1517904"/>
          </a:xfrm>
          <a:prstGeom prst="rect">
            <a:avLst/>
          </a:prstGeom>
        </p:spPr>
      </p:pic>
      <p:sp>
        <p:nvSpPr>
          <p:cNvPr id="77" name="Shape 70"/>
          <p:cNvSpPr/>
          <p:nvPr/>
        </p:nvSpPr>
        <p:spPr>
          <a:xfrm>
            <a:off x="365760" y="6473952"/>
            <a:ext cx="11448288" cy="274320"/>
          </a:xfrm>
          <a:prstGeom prst="roundRect">
            <a:avLst>
              <a:gd name="adj" fmla="val 10000"/>
            </a:avLst>
          </a:prstGeom>
          <a:solidFill>
            <a:srgbClr val="FFE5E5"/>
          </a:solidFill>
          <a:ln w="8890">
            <a:solidFill>
              <a:srgbClr val="F0B7B7"/>
            </a:solidFill>
            <a:prstDash val="solid"/>
          </a:ln>
        </p:spPr>
      </p:sp>
      <p:sp>
        <p:nvSpPr>
          <p:cNvPr id="78" name="Text 71"/>
          <p:cNvSpPr/>
          <p:nvPr/>
        </p:nvSpPr>
        <p:spPr>
          <a:xfrm>
            <a:off x="512064" y="6519672"/>
            <a:ext cx="1051560" cy="164592"/>
          </a:xfrm>
          <a:prstGeom prst="rect">
            <a:avLst/>
          </a:prstGeom>
          <a:solidFill>
            <a:srgbClr val="E31B23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 / WorkMate</a:t>
            </a:r>
            <a:endParaRPr lang="en-US" sz="800" dirty="0"/>
          </a:p>
        </p:txBody>
      </p:sp>
      <p:sp>
        <p:nvSpPr>
          <p:cNvPr id="79" name="Text 72"/>
          <p:cNvSpPr/>
          <p:nvPr/>
        </p:nvSpPr>
        <p:spPr>
          <a:xfrm>
            <a:off x="1682496" y="651967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 AI 助手｜面向真实工作的数字员工平台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SoftStone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CoWork 企业级AI助手</dc:title>
  <dc:subject>WorkMate 企业级 AI 助手</dc:subject>
  <dc:creator>AI WorkMate</dc:creator>
  <cp:lastModifiedBy>AI WorkMate</cp:lastModifiedBy>
  <cp:revision>1</cp:revision>
  <dcterms:created xsi:type="dcterms:W3CDTF">2026-08-26T08:13:10Z</dcterms:created>
  <dcterms:modified xsi:type="dcterms:W3CDTF">2026-08-26T08:13:10Z</dcterms:modified>
</cp:coreProperties>
</file>