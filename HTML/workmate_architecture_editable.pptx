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76" y="246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93192" y="228600"/>
            <a:ext cx="45720" cy="384048"/>
          </a:xfrm>
          <a:prstGeom prst="rect">
            <a:avLst/>
          </a:prstGeom>
          <a:solidFill>
            <a:srgbClr val="C90008"/>
          </a:solidFill>
          <a:ln w="12700">
            <a:solidFill>
              <a:srgbClr val="C900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74520" y="3200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AGENTOS · 企业级智能体平台技术架构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195560" y="2834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0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SOFTSTONE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75720" y="310896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C900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数字转型新动力</a:t>
            </a:r>
            <a:endParaRPr lang="en-US" sz="580" dirty="0"/>
          </a:p>
        </p:txBody>
      </p:sp>
      <p:sp>
        <p:nvSpPr>
          <p:cNvPr id="7" name="Shape 5"/>
          <p:cNvSpPr/>
          <p:nvPr/>
        </p:nvSpPr>
        <p:spPr>
          <a:xfrm>
            <a:off x="393192" y="804672"/>
            <a:ext cx="1078992" cy="6858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804672"/>
            <a:ext cx="0" cy="685800"/>
          </a:xfrm>
          <a:prstGeom prst="line">
            <a:avLst/>
          </a:prstGeom>
          <a:noFill/>
          <a:ln w="40640">
            <a:solidFill>
              <a:srgbClr val="C900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05156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9144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C9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02920" y="12710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1572768" y="804672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877824"/>
            <a:ext cx="478231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3936" y="969264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企业业务系统接入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843016" y="96926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3016" y="98298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1773936" y="1207008"/>
            <a:ext cx="4562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CRM、ERP、进销存、OA、企业门户、IM、开放 API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620256" y="877824"/>
            <a:ext cx="48280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96926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端侧与感知接入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844784" y="96926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44784" y="98298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6729984" y="1207008"/>
            <a:ext cx="4608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工程端侧硬件、2D / 3D 摄像头、传感器、IoT 设备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93192" y="1572768"/>
            <a:ext cx="1078992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1572768"/>
            <a:ext cx="0" cy="768096"/>
          </a:xfrm>
          <a:prstGeom prst="line">
            <a:avLst/>
          </a:prstGeom>
          <a:noFill/>
          <a:ln w="40640">
            <a:solidFill>
              <a:srgbClr val="C900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181965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16824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C9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502920" y="212140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1572768" y="1572768"/>
            <a:ext cx="10058400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4208" y="1655064"/>
            <a:ext cx="308152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73936" y="17465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142232" y="174650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176022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773936" y="198424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岗位 Agent、专家 Agent、管理 Agent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按角色理解目标并执行任务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910328" y="1655064"/>
            <a:ext cx="308152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17465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人类员工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388352" y="174650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176022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0056" y="198424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人工确认、审批、接管与反馈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关键节点保留责任边界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156448" y="1655064"/>
            <a:ext cx="32918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17465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群体协同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10844784" y="174650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44784" y="176022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43" name="Text 41"/>
          <p:cNvSpPr/>
          <p:nvPr/>
        </p:nvSpPr>
        <p:spPr>
          <a:xfrm>
            <a:off x="8266176" y="198424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人机协作、Agent 团队、群聊与任务分派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跨部门共享上下文与成果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393192" y="2423160"/>
            <a:ext cx="1078992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" y="2423160"/>
            <a:ext cx="0" cy="768096"/>
          </a:xfrm>
          <a:prstGeom prst="line">
            <a:avLst/>
          </a:prstGeom>
          <a:noFill/>
          <a:ln w="40640">
            <a:solidFill>
              <a:srgbClr val="C9000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26700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能力层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261872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C9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502920" y="297180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572768" y="2423160"/>
            <a:ext cx="10058400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64208" y="2505456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73936" y="25968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3328416" y="2596896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610612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54" name="Text 52"/>
          <p:cNvSpPr/>
          <p:nvPr/>
        </p:nvSpPr>
        <p:spPr>
          <a:xfrm>
            <a:off x="1773936" y="28346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MCP Toolsets、Builtin Tools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企业系统与外部服务调用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4087368" y="2505456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97096" y="25968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5751576" y="2596896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51576" y="2610612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59" name="Text 57"/>
          <p:cNvSpPr/>
          <p:nvPr/>
        </p:nvSpPr>
        <p:spPr>
          <a:xfrm>
            <a:off x="4197096" y="28346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Skills、岗位技能、用户定义 Function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沉淀可复用工作方法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6510528" y="2505456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0256" y="25968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8174736" y="2596896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74736" y="2610612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64" name="Text 62"/>
          <p:cNvSpPr/>
          <p:nvPr/>
        </p:nvSpPr>
        <p:spPr>
          <a:xfrm>
            <a:off x="6620256" y="28346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扩展 Agent 的连接、处理与交付能力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支持第三方能力接入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8933688" y="2505456"/>
            <a:ext cx="251460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43416" y="259689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/ 流程能力</a:t>
            </a:r>
            <a:endParaRPr lang="en-US" sz="1020" dirty="0"/>
          </a:p>
        </p:txBody>
      </p:sp>
      <p:sp>
        <p:nvSpPr>
          <p:cNvPr id="67" name="Shape 65"/>
          <p:cNvSpPr/>
          <p:nvPr/>
        </p:nvSpPr>
        <p:spPr>
          <a:xfrm>
            <a:off x="10844784" y="2596896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44784" y="2610612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69" name="Text 67"/>
          <p:cNvSpPr/>
          <p:nvPr/>
        </p:nvSpPr>
        <p:spPr>
          <a:xfrm>
            <a:off x="9043416" y="28346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将标准作业程序转化为可执行步骤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支持任务拆解与流程复用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393192" y="3273552"/>
            <a:ext cx="1078992" cy="768096"/>
          </a:xfrm>
          <a:prstGeom prst="roundRect">
            <a:avLst>
              <a:gd name="adj" fmla="val 7143"/>
            </a:avLst>
          </a:prstGeom>
          <a:solidFill>
            <a:srgbClr val="EDF8DF"/>
          </a:solidFill>
          <a:ln w="8890">
            <a:solidFill>
              <a:srgbClr val="ACD7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3192" y="3273552"/>
            <a:ext cx="0" cy="768096"/>
          </a:xfrm>
          <a:prstGeom prst="line">
            <a:avLst/>
          </a:prstGeom>
          <a:noFill/>
          <a:ln w="40640">
            <a:solidFill>
              <a:srgbClr val="6DBD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1208" y="352044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261872" y="3383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6D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74" name="Text 72"/>
          <p:cNvSpPr/>
          <p:nvPr/>
        </p:nvSpPr>
        <p:spPr>
          <a:xfrm>
            <a:off x="502920" y="38221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572768" y="3273552"/>
            <a:ext cx="10058400" cy="768096"/>
          </a:xfrm>
          <a:prstGeom prst="roundRect">
            <a:avLst>
              <a:gd name="adj" fmla="val 7143"/>
            </a:avLst>
          </a:prstGeom>
          <a:solidFill>
            <a:srgbClr val="EDF8DF"/>
          </a:solidFill>
          <a:ln w="8890">
            <a:solidFill>
              <a:srgbClr val="ACD78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64208" y="3355848"/>
            <a:ext cx="3090672" cy="603504"/>
          </a:xfrm>
          <a:prstGeom prst="roundRect">
            <a:avLst>
              <a:gd name="adj" fmla="val 7576"/>
            </a:avLst>
          </a:prstGeom>
          <a:solidFill>
            <a:srgbClr val="F7FCED"/>
          </a:solidFill>
          <a:ln w="8890">
            <a:solidFill>
              <a:srgbClr val="ACD78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73936" y="344728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数据中台</a:t>
            </a:r>
            <a:endParaRPr lang="en-US" sz="1020" dirty="0"/>
          </a:p>
        </p:txBody>
      </p:sp>
      <p:sp>
        <p:nvSpPr>
          <p:cNvPr id="78" name="Shape 76"/>
          <p:cNvSpPr/>
          <p:nvPr/>
        </p:nvSpPr>
        <p:spPr>
          <a:xfrm>
            <a:off x="4151376" y="3447288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51376" y="3461004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80" name="Text 78"/>
          <p:cNvSpPr/>
          <p:nvPr/>
        </p:nvSpPr>
        <p:spPr>
          <a:xfrm>
            <a:off x="1773936" y="368503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多模态数据、业务数据、运行数据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治理、检索、分析与服务</a:t>
            </a:r>
            <a:endParaRPr lang="en-US" sz="670" dirty="0"/>
          </a:p>
        </p:txBody>
      </p:sp>
      <p:sp>
        <p:nvSpPr>
          <p:cNvPr id="81" name="Shape 79"/>
          <p:cNvSpPr/>
          <p:nvPr/>
        </p:nvSpPr>
        <p:spPr>
          <a:xfrm>
            <a:off x="4910328" y="3355848"/>
            <a:ext cx="3090672" cy="603504"/>
          </a:xfrm>
          <a:prstGeom prst="roundRect">
            <a:avLst>
              <a:gd name="adj" fmla="val 7576"/>
            </a:avLst>
          </a:prstGeom>
          <a:solidFill>
            <a:srgbClr val="F7FCED"/>
          </a:solidFill>
          <a:ln w="8890">
            <a:solidFill>
              <a:srgbClr val="ACD78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0056" y="344728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企业本体 / 业务语义</a:t>
            </a:r>
            <a:endParaRPr lang="en-US" sz="1020" dirty="0"/>
          </a:p>
        </p:txBody>
      </p:sp>
      <p:sp>
        <p:nvSpPr>
          <p:cNvPr id="83" name="Shape 81"/>
          <p:cNvSpPr/>
          <p:nvPr/>
        </p:nvSpPr>
        <p:spPr>
          <a:xfrm>
            <a:off x="7397496" y="3447288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97496" y="3461004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85" name="Text 83"/>
          <p:cNvSpPr/>
          <p:nvPr/>
        </p:nvSpPr>
        <p:spPr>
          <a:xfrm>
            <a:off x="5020056" y="368503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对象、属性、关系与统一业务口径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连接组织、人员、项目与资产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8156448" y="3355848"/>
            <a:ext cx="3291840" cy="603504"/>
          </a:xfrm>
          <a:prstGeom prst="roundRect">
            <a:avLst>
              <a:gd name="adj" fmla="val 7576"/>
            </a:avLst>
          </a:prstGeom>
          <a:solidFill>
            <a:srgbClr val="F7FCED"/>
          </a:solidFill>
          <a:ln w="8890">
            <a:solidFill>
              <a:srgbClr val="ACD78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66176" y="344728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知识库与长期记忆</a:t>
            </a:r>
            <a:endParaRPr lang="en-US" sz="1020" dirty="0"/>
          </a:p>
        </p:txBody>
      </p:sp>
      <p:sp>
        <p:nvSpPr>
          <p:cNvPr id="88" name="Shape 86"/>
          <p:cNvSpPr/>
          <p:nvPr/>
        </p:nvSpPr>
        <p:spPr>
          <a:xfrm>
            <a:off x="10844784" y="3447288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844784" y="3461004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90" name="Text 88"/>
          <p:cNvSpPr/>
          <p:nvPr/>
        </p:nvSpPr>
        <p:spPr>
          <a:xfrm>
            <a:off x="8266176" y="368503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企业知识、案例经验、对话记忆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支持私有化或云端知识服务接入</a:t>
            </a:r>
            <a:endParaRPr lang="en-US" sz="670" dirty="0"/>
          </a:p>
        </p:txBody>
      </p:sp>
      <p:sp>
        <p:nvSpPr>
          <p:cNvPr id="91" name="Shape 89"/>
          <p:cNvSpPr/>
          <p:nvPr/>
        </p:nvSpPr>
        <p:spPr>
          <a:xfrm>
            <a:off x="393192" y="4123944"/>
            <a:ext cx="1078992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3192" y="4123944"/>
            <a:ext cx="0" cy="768096"/>
          </a:xfrm>
          <a:prstGeom prst="line">
            <a:avLst/>
          </a:prstGeom>
          <a:noFill/>
          <a:ln w="40640">
            <a:solidFill>
              <a:srgbClr val="C9000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1208" y="437083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1261872" y="423367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C9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95" name="Text 93"/>
          <p:cNvSpPr/>
          <p:nvPr/>
        </p:nvSpPr>
        <p:spPr>
          <a:xfrm>
            <a:off x="502920" y="467258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1572768" y="4123944"/>
            <a:ext cx="10058400" cy="768096"/>
          </a:xfrm>
          <a:prstGeom prst="roundRect">
            <a:avLst>
              <a:gd name="adj" fmla="val 7143"/>
            </a:avLst>
          </a:prstGeom>
          <a:solidFill>
            <a:srgbClr val="EEF2FB"/>
          </a:solidFill>
          <a:ln w="8890">
            <a:solidFill>
              <a:srgbClr val="C6D1E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64208" y="4206240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773936" y="4297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020" dirty="0"/>
          </a:p>
        </p:txBody>
      </p:sp>
      <p:sp>
        <p:nvSpPr>
          <p:cNvPr id="99" name="Shape 97"/>
          <p:cNvSpPr/>
          <p:nvPr/>
        </p:nvSpPr>
        <p:spPr>
          <a:xfrm>
            <a:off x="3328416" y="4297680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28416" y="4311396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01" name="Text 99"/>
          <p:cNvSpPr/>
          <p:nvPr/>
        </p:nvSpPr>
        <p:spPr>
          <a:xfrm>
            <a:off x="1773936" y="453542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用户、角色、组织、租户与资源权限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最小权限与隔离访问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4087368" y="4206240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97096" y="4297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020" dirty="0"/>
          </a:p>
        </p:txBody>
      </p:sp>
      <p:sp>
        <p:nvSpPr>
          <p:cNvPr id="104" name="Shape 102"/>
          <p:cNvSpPr/>
          <p:nvPr/>
        </p:nvSpPr>
        <p:spPr>
          <a:xfrm>
            <a:off x="5751576" y="4297680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51576" y="4311396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06" name="Text 104"/>
          <p:cNvSpPr/>
          <p:nvPr/>
        </p:nvSpPr>
        <p:spPr>
          <a:xfrm>
            <a:off x="4197096" y="453542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调用日志、操作留痕、结果追溯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过程、依据与责任可查</a:t>
            </a:r>
            <a:endParaRPr lang="en-US" sz="660" dirty="0"/>
          </a:p>
        </p:txBody>
      </p:sp>
      <p:sp>
        <p:nvSpPr>
          <p:cNvPr id="107" name="Shape 105"/>
          <p:cNvSpPr/>
          <p:nvPr/>
        </p:nvSpPr>
        <p:spPr>
          <a:xfrm>
            <a:off x="6510528" y="4206240"/>
            <a:ext cx="22677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20256" y="4297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020" dirty="0"/>
          </a:p>
        </p:txBody>
      </p:sp>
      <p:sp>
        <p:nvSpPr>
          <p:cNvPr id="109" name="Shape 107"/>
          <p:cNvSpPr/>
          <p:nvPr/>
        </p:nvSpPr>
        <p:spPr>
          <a:xfrm>
            <a:off x="8174736" y="4297680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74736" y="4311396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111" name="Text 109"/>
          <p:cNvSpPr/>
          <p:nvPr/>
        </p:nvSpPr>
        <p:spPr>
          <a:xfrm>
            <a:off x="6620256" y="453542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规则、审批、风险红线与人工确认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支撑流程合规与异常升级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8933688" y="4206240"/>
            <a:ext cx="251460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8890">
            <a:solidFill>
              <a:srgbClr val="CBD3D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043416" y="4297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020" dirty="0"/>
          </a:p>
        </p:txBody>
      </p:sp>
      <p:sp>
        <p:nvSpPr>
          <p:cNvPr id="114" name="Shape 112"/>
          <p:cNvSpPr/>
          <p:nvPr/>
        </p:nvSpPr>
        <p:spPr>
          <a:xfrm>
            <a:off x="10844784" y="4297680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844784" y="4311396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16" name="Text 114"/>
          <p:cNvSpPr/>
          <p:nvPr/>
        </p:nvSpPr>
        <p:spPr>
          <a:xfrm>
            <a:off x="9043416" y="453542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数据安全、模型安全、工具安全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敏感操作防护与输出检查</a:t>
            </a:r>
            <a:endParaRPr lang="en-US" sz="660" dirty="0"/>
          </a:p>
        </p:txBody>
      </p:sp>
      <p:sp>
        <p:nvSpPr>
          <p:cNvPr id="117" name="Shape 115"/>
          <p:cNvSpPr/>
          <p:nvPr/>
        </p:nvSpPr>
        <p:spPr>
          <a:xfrm>
            <a:off x="393192" y="4974336"/>
            <a:ext cx="1078992" cy="768096"/>
          </a:xfrm>
          <a:prstGeom prst="roundRect">
            <a:avLst>
              <a:gd name="adj" fmla="val 7143"/>
            </a:avLst>
          </a:prstGeom>
          <a:solidFill>
            <a:srgbClr val="FFF6DF"/>
          </a:solidFill>
          <a:ln w="8890">
            <a:solidFill>
              <a:srgbClr val="EFC15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3192" y="4974336"/>
            <a:ext cx="0" cy="768096"/>
          </a:xfrm>
          <a:prstGeom prst="line">
            <a:avLst/>
          </a:prstGeom>
          <a:noFill/>
          <a:ln w="40640">
            <a:solidFill>
              <a:srgbClr val="EFA31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1208" y="52212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内核层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1261872" y="50840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EF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  <p:sp>
        <p:nvSpPr>
          <p:cNvPr id="121" name="Text 119"/>
          <p:cNvSpPr/>
          <p:nvPr/>
        </p:nvSpPr>
        <p:spPr>
          <a:xfrm>
            <a:off x="502920" y="552297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5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550" dirty="0"/>
          </a:p>
        </p:txBody>
      </p:sp>
      <p:sp>
        <p:nvSpPr>
          <p:cNvPr id="122" name="Shape 120"/>
          <p:cNvSpPr/>
          <p:nvPr/>
        </p:nvSpPr>
        <p:spPr>
          <a:xfrm>
            <a:off x="1572768" y="4974336"/>
            <a:ext cx="10058400" cy="768096"/>
          </a:xfrm>
          <a:prstGeom prst="roundRect">
            <a:avLst>
              <a:gd name="adj" fmla="val 7143"/>
            </a:avLst>
          </a:prstGeom>
          <a:solidFill>
            <a:srgbClr val="FFF6DF"/>
          </a:solidFill>
          <a:ln w="8890">
            <a:solidFill>
              <a:srgbClr val="EFC15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664208" y="5056632"/>
            <a:ext cx="3090672" cy="603504"/>
          </a:xfrm>
          <a:prstGeom prst="roundRect">
            <a:avLst>
              <a:gd name="adj" fmla="val 7576"/>
            </a:avLst>
          </a:prstGeom>
          <a:solidFill>
            <a:srgbClr val="FFFDF8"/>
          </a:solidFill>
          <a:ln w="8890">
            <a:solidFill>
              <a:srgbClr val="EFC15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773936" y="51480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Runtime</a:t>
            </a:r>
            <a:endParaRPr lang="en-US" sz="1020" dirty="0"/>
          </a:p>
        </p:txBody>
      </p:sp>
      <p:sp>
        <p:nvSpPr>
          <p:cNvPr id="125" name="Shape 123"/>
          <p:cNvSpPr/>
          <p:nvPr/>
        </p:nvSpPr>
        <p:spPr>
          <a:xfrm>
            <a:off x="4151376" y="5148072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51376" y="5161788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27" name="Text 125"/>
          <p:cNvSpPr/>
          <p:nvPr/>
        </p:nvSpPr>
        <p:spPr>
          <a:xfrm>
            <a:off x="1773936" y="538581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 生命周期、上下文、记忆与状态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任务规划、工具调用、消息与事件循环</a:t>
            </a:r>
            <a:endParaRPr lang="en-US" sz="640" dirty="0"/>
          </a:p>
        </p:txBody>
      </p:sp>
      <p:sp>
        <p:nvSpPr>
          <p:cNvPr id="128" name="Shape 126"/>
          <p:cNvSpPr/>
          <p:nvPr/>
        </p:nvSpPr>
        <p:spPr>
          <a:xfrm>
            <a:off x="4910328" y="5056632"/>
            <a:ext cx="3090672" cy="603504"/>
          </a:xfrm>
          <a:prstGeom prst="roundRect">
            <a:avLst>
              <a:gd name="adj" fmla="val 7576"/>
            </a:avLst>
          </a:prstGeom>
          <a:solidFill>
            <a:srgbClr val="FFFDF8"/>
          </a:solidFill>
          <a:ln w="8890">
            <a:solidFill>
              <a:srgbClr val="EFC15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020056" y="51480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模型运行时</a:t>
            </a:r>
            <a:endParaRPr lang="en-US" sz="1020" dirty="0"/>
          </a:p>
        </p:txBody>
      </p:sp>
      <p:sp>
        <p:nvSpPr>
          <p:cNvPr id="130" name="Shape 128"/>
          <p:cNvSpPr/>
          <p:nvPr/>
        </p:nvSpPr>
        <p:spPr>
          <a:xfrm>
            <a:off x="7397496" y="5148072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97496" y="5161788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32" name="Text 130"/>
          <p:cNvSpPr/>
          <p:nvPr/>
        </p:nvSpPr>
        <p:spPr>
          <a:xfrm>
            <a:off x="5020056" y="538581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模型路由、推理、流式输出与多模型适配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支持私有化部署与云端 API</a:t>
            </a:r>
            <a:endParaRPr lang="en-US" sz="640" dirty="0"/>
          </a:p>
        </p:txBody>
      </p:sp>
      <p:sp>
        <p:nvSpPr>
          <p:cNvPr id="133" name="Shape 131"/>
          <p:cNvSpPr/>
          <p:nvPr/>
        </p:nvSpPr>
        <p:spPr>
          <a:xfrm>
            <a:off x="8156448" y="5056632"/>
            <a:ext cx="3291840" cy="603504"/>
          </a:xfrm>
          <a:prstGeom prst="roundRect">
            <a:avLst>
              <a:gd name="adj" fmla="val 7576"/>
            </a:avLst>
          </a:prstGeom>
          <a:solidFill>
            <a:srgbClr val="FFFDF8"/>
          </a:solidFill>
          <a:ln w="8890">
            <a:solidFill>
              <a:srgbClr val="EFC15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66176" y="514807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编排与可观测运行时</a:t>
            </a:r>
            <a:endParaRPr lang="en-US" sz="1020" dirty="0"/>
          </a:p>
        </p:txBody>
      </p:sp>
      <p:sp>
        <p:nvSpPr>
          <p:cNvPr id="135" name="Shape 133"/>
          <p:cNvSpPr/>
          <p:nvPr/>
        </p:nvSpPr>
        <p:spPr>
          <a:xfrm>
            <a:off x="10844784" y="5148072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844784" y="5161788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137" name="Text 135"/>
          <p:cNvSpPr/>
          <p:nvPr/>
        </p:nvSpPr>
        <p:spPr>
          <a:xfrm>
            <a:off x="8266176" y="538581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任务执行图、状态管理、监控、评估与故障恢复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为上层 Agent 提供统一运行能力</a:t>
            </a:r>
            <a:endParaRPr lang="en-US" sz="620" dirty="0"/>
          </a:p>
        </p:txBody>
      </p:sp>
      <p:sp>
        <p:nvSpPr>
          <p:cNvPr id="138" name="Shape 136"/>
          <p:cNvSpPr/>
          <p:nvPr/>
        </p:nvSpPr>
        <p:spPr>
          <a:xfrm>
            <a:off x="393192" y="5989320"/>
            <a:ext cx="11228832" cy="310896"/>
          </a:xfrm>
          <a:prstGeom prst="roundRect">
            <a:avLst>
              <a:gd name="adj" fmla="val 14706"/>
            </a:avLst>
          </a:prstGeom>
          <a:solidFill>
            <a:srgbClr val="F2F5FF"/>
          </a:solidFill>
          <a:ln w="8890">
            <a:solidFill>
              <a:srgbClr val="AFC0ED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608576" y="6062472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5F7F9"/>
          </a:solidFill>
          <a:ln w="5715">
            <a:solidFill>
              <a:srgbClr val="D3D9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608576" y="6076188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70" dirty="0"/>
          </a:p>
        </p:txBody>
      </p:sp>
      <p:sp>
        <p:nvSpPr>
          <p:cNvPr id="141" name="Text 139"/>
          <p:cNvSpPr/>
          <p:nvPr/>
        </p:nvSpPr>
        <p:spPr>
          <a:xfrm>
            <a:off x="5212080" y="6071616"/>
            <a:ext cx="5394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WorkMate 软件治理底座：统一模型、数据、权限、安全、审计与租户隔离</a:t>
            </a:r>
            <a:endParaRPr lang="en-US" sz="840" dirty="0"/>
          </a:p>
        </p:txBody>
      </p:sp>
      <p:sp>
        <p:nvSpPr>
          <p:cNvPr id="142" name="Shape 140"/>
          <p:cNvSpPr/>
          <p:nvPr/>
        </p:nvSpPr>
        <p:spPr>
          <a:xfrm>
            <a:off x="393192" y="6382512"/>
            <a:ext cx="11228832" cy="310896"/>
          </a:xfrm>
          <a:prstGeom prst="roundRect">
            <a:avLst>
              <a:gd name="adj" fmla="val 14706"/>
            </a:avLst>
          </a:prstGeom>
          <a:solidFill>
            <a:srgbClr val="FFF7F7"/>
          </a:solidFill>
          <a:ln w="8890">
            <a:solidFill>
              <a:srgbClr val="FFB0B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828032" y="6455664"/>
            <a:ext cx="484632" cy="164592"/>
          </a:xfrm>
          <a:prstGeom prst="roundRect">
            <a:avLst>
              <a:gd name="adj" fmla="val 44444"/>
            </a:avLst>
          </a:prstGeom>
          <a:solidFill>
            <a:srgbClr val="FFF8F8"/>
          </a:solidFill>
          <a:ln w="5715">
            <a:solidFill>
              <a:srgbClr val="FFADB3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828032" y="6469380"/>
            <a:ext cx="484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70" dirty="0"/>
          </a:p>
        </p:txBody>
      </p:sp>
      <p:sp>
        <p:nvSpPr>
          <p:cNvPr id="145" name="Text 143"/>
          <p:cNvSpPr/>
          <p:nvPr/>
        </p:nvSpPr>
        <p:spPr>
          <a:xfrm>
            <a:off x="5257800" y="646480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8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天璇企业级 AI Foundation：硬件资源、算力基础设施与端侧设备底座</a:t>
            </a:r>
            <a:endParaRPr lang="en-US" sz="840" dirty="0"/>
          </a:p>
        </p:txBody>
      </p:sp>
      <p:sp>
        <p:nvSpPr>
          <p:cNvPr id="146" name="Text 144"/>
          <p:cNvSpPr/>
          <p:nvPr/>
        </p:nvSpPr>
        <p:spPr>
          <a:xfrm>
            <a:off x="457200" y="6784848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5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©2026 文本版权归软通动力信息技术（集团）股份有限公司所有，并保留所有权利。</a:t>
            </a:r>
            <a:endParaRPr lang="en-US" sz="620" dirty="0"/>
          </a:p>
        </p:txBody>
      </p:sp>
      <p:sp>
        <p:nvSpPr>
          <p:cNvPr id="147" name="Text 145"/>
          <p:cNvSpPr/>
          <p:nvPr/>
        </p:nvSpPr>
        <p:spPr>
          <a:xfrm>
            <a:off x="10332720" y="678484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E0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20" dirty="0"/>
          </a:p>
        </p:txBody>
      </p:sp>
      <p:sp>
        <p:nvSpPr>
          <p:cNvPr id="148" name="Text 146"/>
          <p:cNvSpPr/>
          <p:nvPr/>
        </p:nvSpPr>
        <p:spPr>
          <a:xfrm>
            <a:off x="10899648" y="6784848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8089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SoftStone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AgentOS 企业级智能体平台技术架构</dc:title>
  <dc:subject>WorkMate AgentOS</dc:subject>
  <dc:creator>AI WorkMate</dc:creator>
  <cp:lastModifiedBy>AI WorkMate</cp:lastModifiedBy>
  <cp:revision>1</cp:revision>
  <dcterms:created xsi:type="dcterms:W3CDTF">2026-08-26T10:07:04Z</dcterms:created>
  <dcterms:modified xsi:type="dcterms:W3CDTF">2026-08-26T10:07:04Z</dcterms:modified>
</cp:coreProperties>
</file>