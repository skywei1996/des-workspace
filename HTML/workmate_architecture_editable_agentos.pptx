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456" y="73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产品介绍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2240280" y="1371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C7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AgentOS 架构图-平台解决方案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49440" y="18288"/>
            <a:ext cx="3054096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EF30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50608" y="9144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F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信息所有者：XX部门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05872" y="1097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SOFTSTONE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20856" y="118872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EF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数字转型新动力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1444752" y="640080"/>
            <a:ext cx="758952" cy="841248"/>
          </a:xfrm>
          <a:prstGeom prst="roundRect">
            <a:avLst>
              <a:gd name="adj" fmla="val 12048"/>
            </a:avLst>
          </a:prstGeom>
          <a:solidFill>
            <a:srgbClr val="FFF5F5"/>
          </a:solidFill>
          <a:ln w="12700">
            <a:solidFill>
              <a:srgbClr val="FF5A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713232"/>
            <a:ext cx="6309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50008" y="640080"/>
            <a:ext cx="9464040" cy="841248"/>
          </a:xfrm>
          <a:prstGeom prst="roundRect">
            <a:avLst>
              <a:gd name="adj" fmla="val 13043"/>
            </a:avLst>
          </a:prstGeom>
          <a:solidFill>
            <a:srgbClr val="FFF5F5"/>
          </a:solidFill>
          <a:ln w="13970">
            <a:solidFill>
              <a:srgbClr val="FF5A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704088"/>
            <a:ext cx="45262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FF5A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795528"/>
            <a:ext cx="4297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企业业务系统接入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55080" y="795528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FF1F1"/>
          </a:solidFill>
          <a:ln w="6350">
            <a:solidFill>
              <a:srgbClr val="FFB5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813816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F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2532888" y="1024128"/>
            <a:ext cx="4306824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CRM、ERP、进销存、OA、企业门户、IM、开放 API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7104888" y="704088"/>
            <a:ext cx="463600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FF5A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14616" y="795528"/>
            <a:ext cx="44074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端侧与感知接入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1146536" y="795528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4F6F8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46536" y="813816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D94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7214616" y="1024128"/>
            <a:ext cx="4416552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工程端侧硬件、2D / 3D 摄像头、传感器、IoT 设备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2423160" y="1069848"/>
            <a:ext cx="931773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FF5A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32888" y="1161288"/>
            <a:ext cx="90891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统一接入与身份边界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1146536" y="1161288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FF1F1"/>
          </a:solidFill>
          <a:ln w="6350">
            <a:solidFill>
              <a:srgbClr val="FFB5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46536" y="1179576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F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2532888" y="1389888"/>
            <a:ext cx="9098280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API Gateway、设备连接、消息总线、身份认证、数据采集与协议适配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1444752" y="1618488"/>
            <a:ext cx="758952" cy="713232"/>
          </a:xfrm>
          <a:prstGeom prst="roundRect">
            <a:avLst>
              <a:gd name="adj" fmla="val 12821"/>
            </a:avLst>
          </a:prstGeom>
          <a:solidFill>
            <a:srgbClr val="FFF5F5"/>
          </a:solidFill>
          <a:ln w="12700">
            <a:solidFill>
              <a:srgbClr val="FF5A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1691640"/>
            <a:ext cx="630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50008" y="1618488"/>
            <a:ext cx="9464040" cy="713232"/>
          </a:xfrm>
          <a:prstGeom prst="roundRect">
            <a:avLst>
              <a:gd name="adj" fmla="val 15385"/>
            </a:avLst>
          </a:prstGeom>
          <a:solidFill>
            <a:srgbClr val="FFF5F5"/>
          </a:solidFill>
          <a:ln w="13970">
            <a:solidFill>
              <a:srgbClr val="FF5A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23160" y="1691640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5A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32888" y="1783080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1783080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FF1F1"/>
          </a:solidFill>
          <a:ln w="6350">
            <a:solidFill>
              <a:srgbClr val="FFB5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801368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F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2532888" y="2011680"/>
            <a:ext cx="2706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岗位 Agent、专家 Agent、管理 Agent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按角色理解目标并执行任务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550408" y="1691640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5A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0136" y="1783080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人类员工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882128" y="1783080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FF1F1"/>
          </a:solidFill>
          <a:ln w="6350">
            <a:solidFill>
              <a:srgbClr val="FFB5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82128" y="1801368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F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5660136" y="2011680"/>
            <a:ext cx="2706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人工确认、审批、接管与反馈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关键节点保留责任边界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677656" y="1691640"/>
            <a:ext cx="3063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5A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87384" y="1783080"/>
            <a:ext cx="2834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群体协同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1146536" y="1783080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4F6F8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146536" y="1801368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D94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550" dirty="0"/>
          </a:p>
        </p:txBody>
      </p:sp>
      <p:sp>
        <p:nvSpPr>
          <p:cNvPr id="43" name="Text 41"/>
          <p:cNvSpPr/>
          <p:nvPr/>
        </p:nvSpPr>
        <p:spPr>
          <a:xfrm>
            <a:off x="8787384" y="2011680"/>
            <a:ext cx="2843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人机协作、Agent 团队、群聊与任务分派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跨部门共享上下文与成果</a:t>
            </a:r>
            <a:endParaRPr lang="en-US" sz="640" dirty="0"/>
          </a:p>
        </p:txBody>
      </p:sp>
      <p:sp>
        <p:nvSpPr>
          <p:cNvPr id="44" name="Shape 42"/>
          <p:cNvSpPr/>
          <p:nvPr/>
        </p:nvSpPr>
        <p:spPr>
          <a:xfrm>
            <a:off x="1444752" y="2468880"/>
            <a:ext cx="758952" cy="713232"/>
          </a:xfrm>
          <a:prstGeom prst="roundRect">
            <a:avLst>
              <a:gd name="adj" fmla="val 12821"/>
            </a:avLst>
          </a:prstGeom>
          <a:solidFill>
            <a:srgbClr val="FFF5F5"/>
          </a:solidFill>
          <a:ln w="12700">
            <a:solidFill>
              <a:srgbClr val="FF5A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08760" y="2542032"/>
            <a:ext cx="630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能力层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350008" y="2468880"/>
            <a:ext cx="9464040" cy="713232"/>
          </a:xfrm>
          <a:prstGeom prst="roundRect">
            <a:avLst>
              <a:gd name="adj" fmla="val 15385"/>
            </a:avLst>
          </a:prstGeom>
          <a:solidFill>
            <a:srgbClr val="FFF5F5"/>
          </a:solidFill>
          <a:ln w="13970">
            <a:solidFill>
              <a:srgbClr val="FF5A6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23160" y="2542032"/>
            <a:ext cx="217627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5A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32888" y="2633472"/>
            <a:ext cx="1947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005072" y="2633472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FF1F1"/>
          </a:solidFill>
          <a:ln w="6350">
            <a:solidFill>
              <a:srgbClr val="FFB5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05072" y="2651760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F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50" dirty="0"/>
          </a:p>
        </p:txBody>
      </p:sp>
      <p:sp>
        <p:nvSpPr>
          <p:cNvPr id="51" name="Text 49"/>
          <p:cNvSpPr/>
          <p:nvPr/>
        </p:nvSpPr>
        <p:spPr>
          <a:xfrm>
            <a:off x="2532888" y="2862072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MCP Toolsets、Builtin Tools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企业系统与外部服务调用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754880" y="2542032"/>
            <a:ext cx="217627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5A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2633472"/>
            <a:ext cx="1947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336792" y="2633472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FF1F1"/>
          </a:solidFill>
          <a:ln w="6350">
            <a:solidFill>
              <a:srgbClr val="FFB5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36792" y="2651760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F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4864608" y="2862072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Skills、岗位技能、用户定义 Function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沉淀可复用工作方法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7086600" y="2542032"/>
            <a:ext cx="217627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5A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96328" y="2633472"/>
            <a:ext cx="1947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668512" y="2633472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4F6F8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68512" y="2651760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D94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550" dirty="0"/>
          </a:p>
        </p:txBody>
      </p:sp>
      <p:sp>
        <p:nvSpPr>
          <p:cNvPr id="61" name="Text 59"/>
          <p:cNvSpPr/>
          <p:nvPr/>
        </p:nvSpPr>
        <p:spPr>
          <a:xfrm>
            <a:off x="7196328" y="2862072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扩展 Agent 的连接、处理与交付能力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支持第三方能力接入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9418320" y="2542032"/>
            <a:ext cx="232257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5A6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528048" y="2633472"/>
            <a:ext cx="20939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/ 流程能力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1146536" y="2633472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4F6F8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146536" y="2651760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D94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550" dirty="0"/>
          </a:p>
        </p:txBody>
      </p:sp>
      <p:sp>
        <p:nvSpPr>
          <p:cNvPr id="66" name="Text 64"/>
          <p:cNvSpPr/>
          <p:nvPr/>
        </p:nvSpPr>
        <p:spPr>
          <a:xfrm>
            <a:off x="9528048" y="286207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将标准作业程序转化为可执行步骤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支持任务拆解与流程复用</a:t>
            </a:r>
            <a:endParaRPr lang="en-US" sz="630" dirty="0"/>
          </a:p>
        </p:txBody>
      </p:sp>
      <p:sp>
        <p:nvSpPr>
          <p:cNvPr id="67" name="Shape 65"/>
          <p:cNvSpPr/>
          <p:nvPr/>
        </p:nvSpPr>
        <p:spPr>
          <a:xfrm>
            <a:off x="1444752" y="3319272"/>
            <a:ext cx="758952" cy="713232"/>
          </a:xfrm>
          <a:prstGeom prst="roundRect">
            <a:avLst>
              <a:gd name="adj" fmla="val 12821"/>
            </a:avLst>
          </a:prstGeom>
          <a:solidFill>
            <a:srgbClr val="F2FBEF"/>
          </a:solidFill>
          <a:ln w="12700">
            <a:solidFill>
              <a:srgbClr val="7AC95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508760" y="3392424"/>
            <a:ext cx="630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2350008" y="3319272"/>
            <a:ext cx="9464040" cy="713232"/>
          </a:xfrm>
          <a:prstGeom prst="roundRect">
            <a:avLst>
              <a:gd name="adj" fmla="val 15385"/>
            </a:avLst>
          </a:prstGeom>
          <a:solidFill>
            <a:srgbClr val="F2FBEF"/>
          </a:solidFill>
          <a:ln w="13970">
            <a:solidFill>
              <a:srgbClr val="FF5A6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423160" y="3392424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2FBEF"/>
          </a:solidFill>
          <a:ln w="10160">
            <a:solidFill>
              <a:srgbClr val="7AC95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32888" y="3483864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数据中台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754880" y="3483864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FF1F1"/>
          </a:solidFill>
          <a:ln w="6350">
            <a:solidFill>
              <a:srgbClr val="FFB5B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54880" y="3502152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F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50" dirty="0"/>
          </a:p>
        </p:txBody>
      </p:sp>
      <p:sp>
        <p:nvSpPr>
          <p:cNvPr id="74" name="Text 72"/>
          <p:cNvSpPr/>
          <p:nvPr/>
        </p:nvSpPr>
        <p:spPr>
          <a:xfrm>
            <a:off x="2532888" y="3712464"/>
            <a:ext cx="2706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多模态数据、业务数据、运行数据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数据治理、检索、分析与服务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5550408" y="3392424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2FBEF"/>
          </a:solidFill>
          <a:ln w="10160">
            <a:solidFill>
              <a:srgbClr val="7AC95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60136" y="3483864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企业本体 / 业务语义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882128" y="3483864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4F6F8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882128" y="3502152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D94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550" dirty="0"/>
          </a:p>
        </p:txBody>
      </p:sp>
      <p:sp>
        <p:nvSpPr>
          <p:cNvPr id="79" name="Text 77"/>
          <p:cNvSpPr/>
          <p:nvPr/>
        </p:nvSpPr>
        <p:spPr>
          <a:xfrm>
            <a:off x="5660136" y="3712464"/>
            <a:ext cx="2706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客户、员工、组织、项目、合同、指标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对象、属性、关系与统一口径</a:t>
            </a:r>
            <a:endParaRPr lang="en-US" sz="630" dirty="0"/>
          </a:p>
        </p:txBody>
      </p:sp>
      <p:sp>
        <p:nvSpPr>
          <p:cNvPr id="80" name="Shape 78"/>
          <p:cNvSpPr/>
          <p:nvPr/>
        </p:nvSpPr>
        <p:spPr>
          <a:xfrm>
            <a:off x="8677656" y="3392424"/>
            <a:ext cx="3063240" cy="512064"/>
          </a:xfrm>
          <a:prstGeom prst="roundRect">
            <a:avLst>
              <a:gd name="adj" fmla="val 14286"/>
            </a:avLst>
          </a:prstGeom>
          <a:solidFill>
            <a:srgbClr val="F2FBEF"/>
          </a:solidFill>
          <a:ln w="10160">
            <a:solidFill>
              <a:srgbClr val="7AC95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787384" y="3483864"/>
            <a:ext cx="2834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知识库与长期记忆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11146536" y="3483864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FF1F1"/>
          </a:solidFill>
          <a:ln w="6350">
            <a:solidFill>
              <a:srgbClr val="FFB5B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1146536" y="3502152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F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50" dirty="0"/>
          </a:p>
        </p:txBody>
      </p:sp>
      <p:sp>
        <p:nvSpPr>
          <p:cNvPr id="84" name="Text 82"/>
          <p:cNvSpPr/>
          <p:nvPr/>
        </p:nvSpPr>
        <p:spPr>
          <a:xfrm>
            <a:off x="8787384" y="3712464"/>
            <a:ext cx="2843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企业知识、案例经验、对话记忆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私有化或云端知识服务接入</a:t>
            </a:r>
            <a:endParaRPr lang="en-US" sz="640" dirty="0"/>
          </a:p>
        </p:txBody>
      </p:sp>
      <p:sp>
        <p:nvSpPr>
          <p:cNvPr id="85" name="Shape 83"/>
          <p:cNvSpPr/>
          <p:nvPr/>
        </p:nvSpPr>
        <p:spPr>
          <a:xfrm>
            <a:off x="1444752" y="4169664"/>
            <a:ext cx="758952" cy="713232"/>
          </a:xfrm>
          <a:prstGeom prst="roundRect">
            <a:avLst>
              <a:gd name="adj" fmla="val 12821"/>
            </a:avLst>
          </a:prstGeom>
          <a:solidFill>
            <a:srgbClr val="FFF5F5"/>
          </a:solidFill>
          <a:ln w="12700">
            <a:solidFill>
              <a:srgbClr val="FF5A6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08760" y="4242816"/>
            <a:ext cx="630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治理层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2350008" y="4169664"/>
            <a:ext cx="9464040" cy="713232"/>
          </a:xfrm>
          <a:prstGeom prst="roundRect">
            <a:avLst>
              <a:gd name="adj" fmla="val 15385"/>
            </a:avLst>
          </a:prstGeom>
          <a:solidFill>
            <a:srgbClr val="FFF5F5"/>
          </a:solidFill>
          <a:ln w="13970">
            <a:solidFill>
              <a:srgbClr val="FF5A6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423160" y="4242816"/>
            <a:ext cx="217627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5A6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532888" y="4334256"/>
            <a:ext cx="1947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005072" y="4334256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FF1F1"/>
          </a:solidFill>
          <a:ln w="6350">
            <a:solidFill>
              <a:srgbClr val="FFB5B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005072" y="4352544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F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50" dirty="0"/>
          </a:p>
        </p:txBody>
      </p:sp>
      <p:sp>
        <p:nvSpPr>
          <p:cNvPr id="92" name="Text 90"/>
          <p:cNvSpPr/>
          <p:nvPr/>
        </p:nvSpPr>
        <p:spPr>
          <a:xfrm>
            <a:off x="2532888" y="4562856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用户、角色、组织、租户与资源权限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最小权限与隔离访问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4754880" y="4242816"/>
            <a:ext cx="217627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5A6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64608" y="4334256"/>
            <a:ext cx="1947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6336792" y="4334256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FF1F1"/>
          </a:solidFill>
          <a:ln w="6350">
            <a:solidFill>
              <a:srgbClr val="FFB5B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336792" y="4352544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F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50" dirty="0"/>
          </a:p>
        </p:txBody>
      </p:sp>
      <p:sp>
        <p:nvSpPr>
          <p:cNvPr id="97" name="Text 95"/>
          <p:cNvSpPr/>
          <p:nvPr/>
        </p:nvSpPr>
        <p:spPr>
          <a:xfrm>
            <a:off x="4864608" y="4562856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调用日志、操作留痕、结果追溯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过程、依据与责任可查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7086600" y="4242816"/>
            <a:ext cx="217627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5A6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196328" y="4334256"/>
            <a:ext cx="1947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8668512" y="4334256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4F6F8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668512" y="4352544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D94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550" dirty="0"/>
          </a:p>
        </p:txBody>
      </p:sp>
      <p:sp>
        <p:nvSpPr>
          <p:cNvPr id="102" name="Text 100"/>
          <p:cNvSpPr/>
          <p:nvPr/>
        </p:nvSpPr>
        <p:spPr>
          <a:xfrm>
            <a:off x="7196328" y="4562856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规则、审批、风险红线与人工确认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支撑流程合规与异常升级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9418320" y="4242816"/>
            <a:ext cx="232257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5A6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528048" y="4334256"/>
            <a:ext cx="20939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11146536" y="4334256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FF1F1"/>
          </a:solidFill>
          <a:ln w="6350">
            <a:solidFill>
              <a:srgbClr val="FFB5B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1146536" y="4352544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F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50" dirty="0"/>
          </a:p>
        </p:txBody>
      </p:sp>
      <p:sp>
        <p:nvSpPr>
          <p:cNvPr id="107" name="Text 105"/>
          <p:cNvSpPr/>
          <p:nvPr/>
        </p:nvSpPr>
        <p:spPr>
          <a:xfrm>
            <a:off x="9528048" y="456285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数据安全、模型安全、工具安全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敏感操作防护与输出检查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1444752" y="5020056"/>
            <a:ext cx="758952" cy="713232"/>
          </a:xfrm>
          <a:prstGeom prst="roundRect">
            <a:avLst>
              <a:gd name="adj" fmla="val 12821"/>
            </a:avLst>
          </a:prstGeom>
          <a:solidFill>
            <a:srgbClr val="FFF7E6"/>
          </a:solidFill>
          <a:ln w="12700">
            <a:solidFill>
              <a:srgbClr val="F3A11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508760" y="5093208"/>
            <a:ext cx="630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内核层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2350008" y="5020056"/>
            <a:ext cx="9464040" cy="713232"/>
          </a:xfrm>
          <a:prstGeom prst="roundRect">
            <a:avLst>
              <a:gd name="adj" fmla="val 15385"/>
            </a:avLst>
          </a:prstGeom>
          <a:solidFill>
            <a:srgbClr val="FFF7E6"/>
          </a:solidFill>
          <a:ln w="13970">
            <a:solidFill>
              <a:srgbClr val="FF5A6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423160" y="5093208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FF7E6"/>
          </a:solidFill>
          <a:ln w="10160">
            <a:solidFill>
              <a:srgbClr val="F3A11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532888" y="5184648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Runtime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4754880" y="5184648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FF1F1"/>
          </a:solidFill>
          <a:ln w="6350">
            <a:solidFill>
              <a:srgbClr val="FFB5B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754880" y="5202936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F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50" dirty="0"/>
          </a:p>
        </p:txBody>
      </p:sp>
      <p:sp>
        <p:nvSpPr>
          <p:cNvPr id="115" name="Text 113"/>
          <p:cNvSpPr/>
          <p:nvPr/>
        </p:nvSpPr>
        <p:spPr>
          <a:xfrm>
            <a:off x="2532888" y="5413248"/>
            <a:ext cx="2706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Agent 生命周期、上下文、记忆与状态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任务规划、工具调用、消息与事件循环</a:t>
            </a:r>
            <a:endParaRPr lang="en-US" sz="640" dirty="0"/>
          </a:p>
        </p:txBody>
      </p:sp>
      <p:sp>
        <p:nvSpPr>
          <p:cNvPr id="116" name="Shape 114"/>
          <p:cNvSpPr/>
          <p:nvPr/>
        </p:nvSpPr>
        <p:spPr>
          <a:xfrm>
            <a:off x="5550408" y="5093208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FF7E6"/>
          </a:solidFill>
          <a:ln w="10160">
            <a:solidFill>
              <a:srgbClr val="F3A11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660136" y="5184648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模型运行时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7882128" y="5184648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FF1F1"/>
          </a:solidFill>
          <a:ln w="6350">
            <a:solidFill>
              <a:srgbClr val="FFB5B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882128" y="5202936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F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50" dirty="0"/>
          </a:p>
        </p:txBody>
      </p:sp>
      <p:sp>
        <p:nvSpPr>
          <p:cNvPr id="120" name="Text 118"/>
          <p:cNvSpPr/>
          <p:nvPr/>
        </p:nvSpPr>
        <p:spPr>
          <a:xfrm>
            <a:off x="5660136" y="5413248"/>
            <a:ext cx="2706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模型路由、推理、流式输出与多模型适配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支持私有化部署与云端 API</a:t>
            </a:r>
            <a:endParaRPr lang="en-US" sz="640" dirty="0"/>
          </a:p>
        </p:txBody>
      </p:sp>
      <p:sp>
        <p:nvSpPr>
          <p:cNvPr id="121" name="Shape 119"/>
          <p:cNvSpPr/>
          <p:nvPr/>
        </p:nvSpPr>
        <p:spPr>
          <a:xfrm>
            <a:off x="8677656" y="5093208"/>
            <a:ext cx="3063240" cy="512064"/>
          </a:xfrm>
          <a:prstGeom prst="roundRect">
            <a:avLst>
              <a:gd name="adj" fmla="val 14286"/>
            </a:avLst>
          </a:prstGeom>
          <a:solidFill>
            <a:srgbClr val="FFF7E6"/>
          </a:solidFill>
          <a:ln w="10160">
            <a:solidFill>
              <a:srgbClr val="F3A11A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787384" y="5184648"/>
            <a:ext cx="2834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编排与可观测运行时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11146536" y="5184648"/>
            <a:ext cx="475488" cy="164592"/>
          </a:xfrm>
          <a:prstGeom prst="roundRect">
            <a:avLst>
              <a:gd name="adj" fmla="val 44444"/>
            </a:avLst>
          </a:prstGeom>
          <a:solidFill>
            <a:srgbClr val="F4F6F8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1146536" y="5202936"/>
            <a:ext cx="4754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D94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550" dirty="0"/>
          </a:p>
        </p:txBody>
      </p:sp>
      <p:sp>
        <p:nvSpPr>
          <p:cNvPr id="125" name="Text 123"/>
          <p:cNvSpPr/>
          <p:nvPr/>
        </p:nvSpPr>
        <p:spPr>
          <a:xfrm>
            <a:off x="8787384" y="5413248"/>
            <a:ext cx="2843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任务执行图、状态管理、监控、评估与故障恢复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为上层 Agent 提供统一运行能力</a:t>
            </a:r>
            <a:endParaRPr lang="en-US" sz="620" dirty="0"/>
          </a:p>
        </p:txBody>
      </p:sp>
      <p:sp>
        <p:nvSpPr>
          <p:cNvPr id="126" name="Shape 124"/>
          <p:cNvSpPr/>
          <p:nvPr/>
        </p:nvSpPr>
        <p:spPr>
          <a:xfrm>
            <a:off x="1444752" y="5879592"/>
            <a:ext cx="10369296" cy="347472"/>
          </a:xfrm>
          <a:prstGeom prst="roundRect">
            <a:avLst>
              <a:gd name="adj" fmla="val 21053"/>
            </a:avLst>
          </a:prstGeom>
          <a:solidFill>
            <a:srgbClr val="F4F7FF"/>
          </a:solidFill>
          <a:ln w="12700">
            <a:solidFill>
              <a:srgbClr val="B9C8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480560" y="5961888"/>
            <a:ext cx="502920" cy="13716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620" dirty="0"/>
          </a:p>
        </p:txBody>
      </p:sp>
      <p:sp>
        <p:nvSpPr>
          <p:cNvPr id="128" name="Text 126"/>
          <p:cNvSpPr/>
          <p:nvPr/>
        </p:nvSpPr>
        <p:spPr>
          <a:xfrm>
            <a:off x="5029200" y="5952744"/>
            <a:ext cx="5760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WorkMate 软件治理底座：统一模型、数据、权限、安全、审计与租户隔离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1444752" y="6318504"/>
            <a:ext cx="10369296" cy="347472"/>
          </a:xfrm>
          <a:prstGeom prst="roundRect">
            <a:avLst>
              <a:gd name="adj" fmla="val 21053"/>
            </a:avLst>
          </a:prstGeom>
          <a:solidFill>
            <a:srgbClr val="FFF5F5"/>
          </a:solidFill>
          <a:ln w="12700">
            <a:solidFill>
              <a:srgbClr val="FF5A6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749040" y="6400800"/>
            <a:ext cx="7406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天璇企业级 AI Foundation：硬件资源、算力基础设施与端侧设备底座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0" y="6473952"/>
            <a:ext cx="12191695" cy="36576"/>
          </a:xfrm>
          <a:prstGeom prst="rect">
            <a:avLst/>
          </a:prstGeom>
          <a:solidFill>
            <a:srgbClr val="EF3038"/>
          </a:solidFill>
          <a:ln w="12700">
            <a:solidFill>
              <a:srgbClr val="EF3038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38912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2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©2026文本版权归软通动力信息技术（集团）股份有限公司所有，并保留所有权利。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SoftStone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产品介绍｜产品架构图-平台解决方案</dc:title>
  <dc:subject>WorkMate 企业级 AI 平台架构</dc:subject>
  <dc:creator>AI WorkMate</dc:creator>
  <cp:lastModifiedBy>AI WorkMate</cp:lastModifiedBy>
  <cp:revision>1</cp:revision>
  <dcterms:created xsi:type="dcterms:W3CDTF">2026-08-26T09:21:52Z</dcterms:created>
  <dcterms:modified xsi:type="dcterms:W3CDTF">2026-08-26T09:21:52Z</dcterms:modified>
</cp:coreProperties>
</file>