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73143" cy="54864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999" y="0"/>
            <a:ext cx="4073143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999" y="0"/>
            <a:ext cx="4073143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7315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0E5FF"/>
                </a:solidFill>
                <a:latin typeface="Microsoft YaHei"/>
              </a:rPr>
              <a:t>DEEP DISCOVERY / 企业原生智能化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60704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Claude Tag：AI 同事正式入群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07792"/>
            <a:ext cx="1014984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9EAFBC"/>
                </a:solidFill>
                <a:latin typeface="Microsoft YaHei"/>
              </a:rPr>
              <a:t>Anthropic 把 Claude 放进 Slack 频道：它不再只是个人聊天框里的工具，而开始成为团队协作现场的一部分。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68496"/>
            <a:ext cx="3749039" cy="3200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70832"/>
            <a:ext cx="1042416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D600"/>
                </a:solidFill>
                <a:latin typeface="Microsoft YaHei"/>
              </a:rPr>
              <a:t>「 这次更新的重点不是多了一个功能，而是 AI 正在从个人助手走向企业数字员工 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73143" cy="54864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999" y="0"/>
            <a:ext cx="4073143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999" y="0"/>
            <a:ext cx="4073143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7899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真正的变化：AI 从“被召唤”变成“在场”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0E5FF"/>
                </a:solidFill>
                <a:latin typeface="Microsoft YaHei"/>
              </a:rPr>
              <a:t>过去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40233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00E5FF"/>
                </a:solidFill>
                <a:latin typeface="Microsoft YaHei"/>
              </a:rPr>
              <a:t>个人助手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33472"/>
            <a:ext cx="4023360" cy="1280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9EAFBC"/>
                </a:solidFill>
                <a:latin typeface="Microsoft YaHei"/>
              </a:rPr>
              <a:t>用户主动提问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9EAFBC"/>
                </a:solidFill>
                <a:latin typeface="Microsoft YaHei"/>
              </a:rPr>
              <a:t>AI 给出答案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9EAFBC"/>
                </a:solidFill>
                <a:latin typeface="Microsoft YaHei"/>
              </a:rPr>
              <a:t>上下文留在个人窗口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6048" y="2743200"/>
            <a:ext cx="2057400" cy="22860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2331720"/>
            <a:ext cx="16459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D600"/>
                </a:solidFill>
                <a:latin typeface="Microsoft YaHei"/>
              </a:rPr>
              <a:t>角色迁移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4173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3366"/>
                </a:solidFill>
                <a:latin typeface="Microsoft YaHei"/>
              </a:rPr>
              <a:t>现在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847088"/>
            <a:ext cx="40233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FF3366"/>
                </a:solidFill>
                <a:latin typeface="Microsoft YaHei"/>
              </a:rPr>
              <a:t>团队同事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633472"/>
            <a:ext cx="3931920" cy="1280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9EAFBC"/>
                </a:solidFill>
                <a:latin typeface="Microsoft YaHei"/>
              </a:rPr>
              <a:t>Claude 常驻频道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9EAFBC"/>
                </a:solidFill>
                <a:latin typeface="Microsoft YaHei"/>
              </a:rPr>
              <a:t>理解集体讨论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9EAFBC"/>
                </a:solidFill>
                <a:latin typeface="Microsoft YaHei"/>
              </a:rPr>
              <a:t>把决策推入系统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332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0E676"/>
                </a:solidFill>
                <a:latin typeface="Microsoft YaHei"/>
              </a:rPr>
              <a:t>关键不是“更会聊天”，而是它开始共享上下文、理解决策，并承担组织里的一个角色。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73143" cy="54864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999" y="0"/>
            <a:ext cx="4073143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999" y="0"/>
            <a:ext cx="4073143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7899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销售场景：群里已经完成一次“隐形录入”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353312"/>
            <a:ext cx="1508760" cy="310896"/>
          </a:xfrm>
          <a:prstGeom prst="round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7" y="1408176"/>
            <a:ext cx="12893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E5FF"/>
                </a:solidFill>
                <a:latin typeface="Microsoft YaHei"/>
              </a:rPr>
              <a:t>客户公司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353312"/>
            <a:ext cx="1508760" cy="310896"/>
          </a:xfrm>
          <a:prstGeom prst="round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5808" y="1408176"/>
            <a:ext cx="12893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E676"/>
                </a:solidFill>
                <a:latin typeface="Microsoft YaHei"/>
              </a:rPr>
              <a:t>联系人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353312"/>
            <a:ext cx="1508760" cy="310896"/>
          </a:xfrm>
          <a:prstGeom prst="roundRect">
            <a:avLst/>
          </a:prstGeom>
          <a:solidFill>
            <a:srgbClr val="FFD600"/>
          </a:solidFill>
          <a:ln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93208" y="1408176"/>
            <a:ext cx="12893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D600"/>
                </a:solidFill>
                <a:latin typeface="Microsoft YaHei"/>
              </a:rPr>
              <a:t>预算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1353312"/>
            <a:ext cx="1508760" cy="310896"/>
          </a:xfrm>
          <a:prstGeom prst="roundRect">
            <a:avLst/>
          </a:prstGeom>
          <a:solidFill>
            <a:srgbClr val="FF3366"/>
          </a:solidFill>
          <a:ln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0608" y="1408176"/>
            <a:ext cx="12893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3366"/>
                </a:solidFill>
                <a:latin typeface="Microsoft YaHei"/>
              </a:rPr>
              <a:t>需求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353312"/>
            <a:ext cx="1508760" cy="310896"/>
          </a:xfrm>
          <a:prstGeom prst="round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7" y="1408176"/>
            <a:ext cx="12893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E5FF"/>
                </a:solidFill>
                <a:latin typeface="Microsoft YaHei"/>
              </a:rPr>
              <a:t>下周演示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029968"/>
            <a:ext cx="99669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销售在频道里讨论新线索时，客户背景、采购意向、预算范围、演示安排已经被说清楚。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07792"/>
            <a:ext cx="987552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9EAFBC"/>
                </a:solidFill>
                <a:latin typeface="Microsoft YaHei"/>
              </a:rPr>
              <a:t>但传统流程要求人再打开 CRM 手动录一遍：销售忙着跟客户，录入就延迟、遗漏，字段口径也越来越不一致。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315968"/>
            <a:ext cx="10378440" cy="658368"/>
          </a:xfrm>
          <a:prstGeom prst="roundRect">
            <a:avLst/>
          </a:prstGeom>
          <a:solidFill>
            <a:srgbClr val="FF3366"/>
          </a:solidFill>
          <a:ln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987552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D600"/>
                </a:solidFill>
                <a:latin typeface="Microsoft YaHei"/>
              </a:rPr>
              <a:t>真实断点：业务事实已经发生在群聊里，但企业系统还没有感知到它。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73143" cy="54864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999" y="0"/>
            <a:ext cx="4073143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999" y="0"/>
            <a:ext cx="4073143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8813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Claude Tag 的核心动作：把群聊转译成系统记录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53312"/>
            <a:ext cx="2514600" cy="2971800"/>
          </a:xfrm>
          <a:prstGeom prst="round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36192"/>
            <a:ext cx="7315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0E5FF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65960"/>
            <a:ext cx="20574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监听频道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15184"/>
            <a:ext cx="2148840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9EAFBC"/>
                </a:solidFill>
                <a:latin typeface="Microsoft YaHei"/>
              </a:rPr>
              <a:t>捕捉“客户有采购意向”“预算大概多少”“下周安排演示”等讨论。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53312"/>
            <a:ext cx="2514600" cy="2971800"/>
          </a:xfrm>
          <a:prstGeom prst="round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536192"/>
            <a:ext cx="7315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0E676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965960"/>
            <a:ext cx="20574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识别商机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615184"/>
            <a:ext cx="2148840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9EAFBC"/>
                </a:solidFill>
                <a:latin typeface="Microsoft YaHei"/>
              </a:rPr>
              <a:t>判断这不是普通聊天，而是一条需要沉淀的新线索。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2514600" cy="2971800"/>
          </a:xfrm>
          <a:prstGeom prst="roundRect">
            <a:avLst/>
          </a:prstGeom>
          <a:solidFill>
            <a:srgbClr val="FFD600"/>
          </a:solidFill>
          <a:ln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1536192"/>
            <a:ext cx="7315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D600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965960"/>
            <a:ext cx="20574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提取字段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615184"/>
            <a:ext cx="2148840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9EAFBC"/>
                </a:solidFill>
                <a:latin typeface="Microsoft YaHei"/>
              </a:rPr>
              <a:t>整理公司、联系人、需求、预算、阶段、下一步动作。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1353312"/>
            <a:ext cx="2514600" cy="2971800"/>
          </a:xfrm>
          <a:prstGeom prst="roundRect">
            <a:avLst/>
          </a:prstGeom>
          <a:solidFill>
            <a:srgbClr val="FF3366"/>
          </a:solidFill>
          <a:ln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1" y="1536192"/>
            <a:ext cx="7315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3366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1" y="1965960"/>
            <a:ext cx="20574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写入 CRM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1" y="2615184"/>
            <a:ext cx="2148840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9EAFBC"/>
                </a:solidFill>
                <a:latin typeface="Microsoft YaHei"/>
              </a:rPr>
              <a:t>销售不用重复填表，群里聊完，线索已经进入系统。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28032"/>
            <a:ext cx="106070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0E676"/>
                </a:solidFill>
                <a:latin typeface="Microsoft YaHei"/>
              </a:rPr>
              <a:t>「 从自然讨论到结构化记录，Claude Tag 把协作现场接入了业务主系统 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73143" cy="54864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999" y="0"/>
            <a:ext cx="4073143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999" y="0"/>
            <a:ext cx="4073143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69848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更进一步：它不只记录，还持续推动下一步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9260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3366"/>
                </a:solidFill>
                <a:latin typeface="Microsoft YaHei"/>
              </a:rPr>
              <a:t>三天没动静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3474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主动提醒负责人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347472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9EAFBC"/>
                </a:solidFill>
                <a:latin typeface="Microsoft YaHei"/>
              </a:rPr>
              <a:t>避免线索在群聊热度消退后悄悄沉底。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103120"/>
            <a:ext cx="9144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417320"/>
            <a:ext cx="29260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D600"/>
                </a:solidFill>
                <a:latin typeface="Microsoft YaHei"/>
              </a:rPr>
              <a:t>进入报价阶段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1938528"/>
            <a:ext cx="34747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自动生成待办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487168"/>
            <a:ext cx="347472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9EAFBC"/>
                </a:solidFill>
                <a:latin typeface="Microsoft YaHei"/>
              </a:rPr>
              <a:t>提醒销售准备方案，必要时拉起售前支持。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101498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0E5FF"/>
                </a:solidFill>
                <a:latin typeface="Microsoft YaHei"/>
              </a:rPr>
              <a:t>这些动作发生在团队频道里，所有人都看得见：上下文共享，责任链也同步浮出水面。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73143" cy="54864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999" y="0"/>
            <a:ext cx="4073143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999" y="0"/>
            <a:ext cx="4073143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8813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企业级 AI 的硬门槛：不是能做事，而是可控地做事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1089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3366"/>
                </a:solidFill>
                <a:latin typeface="Microsoft YaHei"/>
              </a:rPr>
              <a:t>权限隔离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320040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9EAFBC"/>
                </a:solidFill>
                <a:latin typeface="Microsoft YaHei"/>
              </a:rPr>
              <a:t>销售团队的 Claude 看不到工程数据，反之亦然。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371600"/>
            <a:ext cx="31089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D600"/>
                </a:solidFill>
                <a:latin typeface="Microsoft YaHei"/>
              </a:rPr>
              <a:t>操作记录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901952"/>
            <a:ext cx="324612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9EAFBC"/>
                </a:solidFill>
                <a:latin typeface="Microsoft YaHei"/>
              </a:rPr>
              <a:t>自动提取、写入、提醒、生成待办，都必须留下可追踪痕迹。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371600"/>
            <a:ext cx="31089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00E676"/>
                </a:solidFill>
                <a:latin typeface="Microsoft YaHei"/>
              </a:rPr>
              <a:t>Token 预算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901952"/>
            <a:ext cx="306324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9EAFBC"/>
                </a:solidFill>
                <a:latin typeface="Microsoft YaHei"/>
              </a:rPr>
              <a:t>把能力、成本和调用边界同时纳入组织治理。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86200"/>
            <a:ext cx="10241280" cy="777240"/>
          </a:xfrm>
          <a:prstGeom prst="round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096512"/>
            <a:ext cx="97840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核心判断：一旦 AI 进入团队频道，它就不只是信息工具，而是带权限、成本和审计责任的数字员工。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73143" cy="54864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999" y="0"/>
            <a:ext cx="4073143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999" y="0"/>
            <a:ext cx="4073143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8813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终章：Claude Tag 重新定义“团队”的边界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4241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FF3366"/>
                </a:solidFill>
                <a:latin typeface="Microsoft YaHei"/>
              </a:rPr>
              <a:t>它不是在做更好的 AI 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4241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00E5FF"/>
                </a:solidFill>
                <a:latin typeface="Microsoft YaHei"/>
              </a:rPr>
              <a:t>而是在把一个新角色放进组织结构里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1014984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9EAFBC"/>
                </a:solidFill>
                <a:latin typeface="Microsoft YaHei"/>
              </a:rPr>
              <a:t>当一个 AI 持续待在频道里，记住讨论、理解决策、推动执行，它实际上在扮演组织的共享记忆和执行中枢。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60520"/>
            <a:ext cx="4389120" cy="3200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33272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0E676"/>
                </a:solidFill>
                <a:latin typeface="Microsoft YaHei"/>
              </a:rPr>
              <a:t>「 率先完成这个重构的组织，不是多了一个工具，而是多了一个永远在线的协作层 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