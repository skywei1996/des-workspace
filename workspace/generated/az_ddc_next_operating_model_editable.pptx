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82587" y="397933"/>
            <a:ext cx="67731" cy="558800"/>
          </a:xfrm>
          <a:prstGeom prst="ellipse">
            <a:avLst/>
          </a:prstGeom>
          <a:solidFill>
            <a:srgbClr val="D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06230" y="2326613"/>
            <a:ext cx="338658" cy="338666"/>
          </a:xfrm>
          <a:prstGeom prst="ellipse">
            <a:avLst/>
          </a:prstGeom>
          <a:solidFill>
            <a:srgbClr val="EF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394090" y="3241013"/>
            <a:ext cx="338658" cy="338666"/>
          </a:xfrm>
          <a:prstGeom prst="ellipse">
            <a:avLst/>
          </a:prstGeom>
          <a:solidFill>
            <a:srgbClr val="CB4D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06230" y="4155413"/>
            <a:ext cx="338658" cy="338666"/>
          </a:xfrm>
          <a:prstGeom prst="ellipse">
            <a:avLst/>
          </a:prstGeom>
          <a:solidFill>
            <a:srgbClr val="BA1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30830" y="2479013"/>
            <a:ext cx="1862620" cy="1862666"/>
          </a:xfrm>
          <a:prstGeom prst="ellipse">
            <a:avLst/>
          </a:prstGeom>
          <a:solidFill>
            <a:srgbClr val="D5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94394" y="2098013"/>
            <a:ext cx="778913" cy="795866"/>
          </a:xfrm>
          <a:prstGeom prst="roundRect">
            <a:avLst/>
          </a:prstGeom>
          <a:solidFill>
            <a:srgbClr val="EA7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989123" y="2301213"/>
            <a:ext cx="389456" cy="38946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74906" y="2098013"/>
            <a:ext cx="5966469" cy="795866"/>
          </a:xfrm>
          <a:prstGeom prst="roundRect">
            <a:avLst/>
          </a:prstGeom>
          <a:solidFill>
            <a:srgbClr val="F7F7F7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332250" y="2291027"/>
            <a:ext cx="548732" cy="194733"/>
          </a:xfrm>
          <a:prstGeom prst="ellipse">
            <a:avLst/>
          </a:prstGeom>
          <a:solidFill>
            <a:srgbClr val="CF4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48713" y="2291027"/>
            <a:ext cx="548732" cy="194733"/>
          </a:xfrm>
          <a:prstGeom prst="ellipse">
            <a:avLst/>
          </a:prstGeom>
          <a:solidFill>
            <a:srgbClr val="CF4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94394" y="3012413"/>
            <a:ext cx="778913" cy="795866"/>
          </a:xfrm>
          <a:prstGeom prst="roundRect">
            <a:avLst/>
          </a:prstGeom>
          <a:solidFill>
            <a:srgbClr val="DF5D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989123" y="3215613"/>
            <a:ext cx="389456" cy="38946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74906" y="3012413"/>
            <a:ext cx="5966469" cy="795866"/>
          </a:xfrm>
          <a:prstGeom prst="roundRect">
            <a:avLst/>
          </a:prstGeom>
          <a:solidFill>
            <a:srgbClr val="F7F7F7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32250" y="3205427"/>
            <a:ext cx="548732" cy="194733"/>
          </a:xfrm>
          <a:prstGeom prst="ellipse">
            <a:avLst/>
          </a:prstGeom>
          <a:solidFill>
            <a:srgbClr val="CF4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948713" y="3205427"/>
            <a:ext cx="548732" cy="194733"/>
          </a:xfrm>
          <a:prstGeom prst="ellipse">
            <a:avLst/>
          </a:prstGeom>
          <a:solidFill>
            <a:srgbClr val="CF4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794394" y="3926813"/>
            <a:ext cx="778913" cy="795866"/>
          </a:xfrm>
          <a:prstGeom prst="roundRect">
            <a:avLst/>
          </a:prstGeom>
          <a:solidFill>
            <a:srgbClr val="D01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989123" y="4130013"/>
            <a:ext cx="389456" cy="38946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74906" y="3926813"/>
            <a:ext cx="5966469" cy="795866"/>
          </a:xfrm>
          <a:prstGeom prst="roundRect">
            <a:avLst/>
          </a:prstGeom>
          <a:solidFill>
            <a:srgbClr val="F7F7F7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332250" y="4119827"/>
            <a:ext cx="548732" cy="194733"/>
          </a:xfrm>
          <a:prstGeom prst="ellipse">
            <a:avLst/>
          </a:prstGeom>
          <a:solidFill>
            <a:srgbClr val="CF4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48713" y="4119827"/>
            <a:ext cx="548732" cy="194733"/>
          </a:xfrm>
          <a:prstGeom prst="ellipse">
            <a:avLst/>
          </a:prstGeom>
          <a:solidFill>
            <a:srgbClr val="CF4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31763" y="414866"/>
            <a:ext cx="67731" cy="313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D80000"/>
                </a:solidFill>
                <a:latin typeface="Microsoft YaHei"/>
              </a:rPr>
              <a:t>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43931" y="486833"/>
            <a:ext cx="948242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 i="0">
                <a:solidFill>
                  <a:srgbClr val="BE2A1D"/>
                </a:solidFill>
                <a:latin typeface="Microsoft YaHei"/>
              </a:rPr>
              <a:t>数字转型新动力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2715" y="518980"/>
            <a:ext cx="3213548" cy="3165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1" i="0">
                <a:solidFill>
                  <a:srgbClr val="20242A"/>
                </a:solidFill>
                <a:latin typeface="Microsoft YaHei"/>
              </a:rPr>
              <a:t>AZ DDC NEXT 投标方案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587" y="1024466"/>
            <a:ext cx="7958467" cy="1930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 i="0">
                <a:solidFill>
                  <a:srgbClr val="333C48"/>
                </a:solidFill>
                <a:latin typeface="Microsoft YaHei"/>
              </a:rPr>
              <a:t>由 OneTeam 承接核心系统责任，以统一治理降低管理复杂度，并通过 AI 与 CKP 形成持续增强能力。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06230" y="2326613"/>
            <a:ext cx="338658" cy="338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5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94090" y="3241013"/>
            <a:ext cx="338658" cy="338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5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06230" y="4155413"/>
            <a:ext cx="338658" cy="3386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5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48882" y="3081205"/>
            <a:ext cx="626517" cy="6582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700" b="1" i="0">
                <a:solidFill>
                  <a:srgbClr val="FFFAF7"/>
                </a:solidFill>
                <a:latin typeface="Microsoft YaHei"/>
              </a:rPr>
              <a:t>核心 主张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9123" y="2301213"/>
            <a:ext cx="389456" cy="3894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75" b="1" i="0">
                <a:solidFill>
                  <a:srgbClr val="C6262F"/>
                </a:solidFill>
                <a:latin typeface="Microsoft YaHei"/>
              </a:rPr>
              <a:t>OT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18835" y="2276739"/>
            <a:ext cx="1831796" cy="22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D24F60"/>
                </a:solidFill>
                <a:latin typeface="Microsoft YaHei"/>
              </a:rPr>
              <a:t>OneTeam 责任承接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250" y="2291027"/>
            <a:ext cx="548732" cy="1947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 i="0">
                <a:solidFill>
                  <a:srgbClr val="FFFFFF"/>
                </a:solidFill>
                <a:latin typeface="Microsoft YaHei"/>
              </a:rPr>
              <a:t>核心系统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48713" y="2291027"/>
            <a:ext cx="548732" cy="1947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 i="0">
                <a:solidFill>
                  <a:srgbClr val="FFFFFF"/>
                </a:solidFill>
                <a:latin typeface="Microsoft YaHei"/>
              </a:rPr>
              <a:t>稳定团队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18835" y="2550980"/>
            <a:ext cx="5678610" cy="1640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7" b="0" i="0">
                <a:solidFill>
                  <a:srgbClr val="2F3743"/>
                </a:solidFill>
                <a:latin typeface="Microsoft YaHei"/>
              </a:rPr>
              <a:t>以稳定主责团队承接核心系统的持续交付、运营保障与知识沉淀责任，避免系统域在多供应商协作中出现责任断点。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89123" y="3215613"/>
            <a:ext cx="389456" cy="3894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75" b="1" i="0">
                <a:solidFill>
                  <a:srgbClr val="C6262F"/>
                </a:solidFill>
                <a:latin typeface="Microsoft YaHei"/>
              </a:rPr>
              <a:t>UG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18835" y="3191139"/>
            <a:ext cx="1828754" cy="22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D24F60"/>
                </a:solidFill>
                <a:latin typeface="Microsoft YaHei"/>
              </a:rPr>
              <a:t>统一治理与管理减负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250" y="3205427"/>
            <a:ext cx="548732" cy="1947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 i="0">
                <a:solidFill>
                  <a:srgbClr val="FFFFFF"/>
                </a:solidFill>
                <a:latin typeface="Microsoft YaHei"/>
              </a:rPr>
              <a:t>统一接口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48713" y="3205427"/>
            <a:ext cx="548732" cy="1947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 i="0">
                <a:solidFill>
                  <a:srgbClr val="FFFFFF"/>
                </a:solidFill>
                <a:latin typeface="Microsoft YaHei"/>
              </a:rPr>
              <a:t>透明管理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8835" y="3465380"/>
            <a:ext cx="5678610" cy="1640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7" b="0" i="0">
                <a:solidFill>
                  <a:srgbClr val="2F3743"/>
                </a:solidFill>
                <a:latin typeface="Microsoft YaHei"/>
              </a:rPr>
              <a:t>通过统一质量、安全、审计和经营看板接口，帮助 AZ 管理 Pod 与治理节奏，而不是逐个管理工程师与零散交付活动。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89123" y="4130013"/>
            <a:ext cx="389456" cy="3894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75" b="1" i="0">
                <a:solidFill>
                  <a:srgbClr val="C6262F"/>
                </a:solidFill>
                <a:latin typeface="Microsoft YaHei"/>
              </a:rPr>
              <a:t>AI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18835" y="4105539"/>
            <a:ext cx="1781130" cy="22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D24F60"/>
                </a:solidFill>
                <a:latin typeface="Microsoft YaHei"/>
              </a:rPr>
              <a:t>AI + CKP 增强交付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32250" y="4119827"/>
            <a:ext cx="548732" cy="1947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 i="0">
                <a:solidFill>
                  <a:srgbClr val="FFFFFF"/>
                </a:solidFill>
                <a:latin typeface="Microsoft YaHei"/>
              </a:rPr>
              <a:t>效率提升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48713" y="4119827"/>
            <a:ext cx="548732" cy="1947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 i="0">
                <a:solidFill>
                  <a:srgbClr val="FFFFFF"/>
                </a:solidFill>
                <a:latin typeface="Microsoft YaHei"/>
              </a:rPr>
              <a:t>专项能力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18835" y="4379780"/>
            <a:ext cx="5678610" cy="1640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7" b="0" i="0">
                <a:solidFill>
                  <a:srgbClr val="2F3743"/>
                </a:solidFill>
                <a:latin typeface="Microsoft YaHei"/>
              </a:rPr>
              <a:t>将 AI 能力嵌入需求、开发、测试与运营流程，并以 CKP 专项方案支撑知识治理、增量更新和可持续优化能力建设。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67396" y="6468533"/>
            <a:ext cx="424777" cy="143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 i="0">
                <a:solidFill>
                  <a:srgbClr val="8B95A3"/>
                </a:solidFill>
                <a:latin typeface="Microsoft YaHei"/>
              </a:rPr>
              <a:t>01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82587" y="397933"/>
            <a:ext cx="67731" cy="558800"/>
          </a:xfrm>
          <a:prstGeom prst="ellipse">
            <a:avLst/>
          </a:prstGeom>
          <a:solidFill>
            <a:srgbClr val="D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2587" y="1599803"/>
            <a:ext cx="11226519" cy="931333"/>
          </a:xfrm>
          <a:prstGeom prst="rect">
            <a:avLst/>
          </a:prstGeom>
          <a:solidFill>
            <a:srgbClr val="F7F7F7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3450" y="1836869"/>
            <a:ext cx="297648" cy="457200"/>
          </a:xfrm>
          <a:prstGeom prst="ellipse">
            <a:avLst/>
          </a:prstGeom>
          <a:solidFill>
            <a:srgbClr val="D02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72051" y="1836869"/>
            <a:ext cx="393425" cy="457200"/>
          </a:xfrm>
          <a:prstGeom prst="ellipse">
            <a:avLst/>
          </a:prstGeom>
          <a:solidFill>
            <a:srgbClr val="D02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82587" y="2734336"/>
            <a:ext cx="5545528" cy="1320800"/>
          </a:xfrm>
          <a:prstGeom prst="roundRect">
            <a:avLst/>
          </a:prstGeom>
          <a:solidFill>
            <a:srgbClr val="F9F9F9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63579" y="2734336"/>
            <a:ext cx="5545528" cy="1320800"/>
          </a:xfrm>
          <a:prstGeom prst="roundRect">
            <a:avLst/>
          </a:prstGeom>
          <a:solidFill>
            <a:srgbClr val="F9F9F9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2587" y="4190603"/>
            <a:ext cx="5545528" cy="1320800"/>
          </a:xfrm>
          <a:prstGeom prst="roundRect">
            <a:avLst/>
          </a:prstGeom>
          <a:solidFill>
            <a:srgbClr val="F9F9F9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63579" y="4190603"/>
            <a:ext cx="5545528" cy="1320800"/>
          </a:xfrm>
          <a:prstGeom prst="roundRect">
            <a:avLst/>
          </a:prstGeom>
          <a:solidFill>
            <a:srgbClr val="F9F9F9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82587" y="5697669"/>
            <a:ext cx="11226519" cy="448336"/>
          </a:xfrm>
          <a:prstGeom prst="roundRect">
            <a:avLst/>
          </a:prstGeom>
          <a:solidFill>
            <a:srgbClr val="FFF8F7"/>
          </a:solidFill>
          <a:ln w="9525">
            <a:solidFill>
              <a:srgbClr val="DDD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31763" y="414866"/>
            <a:ext cx="67731" cy="313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D80000"/>
                </a:solidFill>
                <a:latin typeface="Microsoft YaHei"/>
              </a:rPr>
              <a:t>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3931" y="486833"/>
            <a:ext cx="948242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 i="0">
                <a:solidFill>
                  <a:srgbClr val="BE2A1D"/>
                </a:solidFill>
                <a:latin typeface="Microsoft YaHei"/>
              </a:rPr>
              <a:t>数字转型新动力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2715" y="484319"/>
            <a:ext cx="1341139" cy="386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0242A"/>
                </a:solidFill>
                <a:latin typeface="Microsoft YaHei"/>
              </a:rPr>
              <a:t>投标总述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587" y="1075266"/>
            <a:ext cx="9990416" cy="2620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222832"/>
                </a:solidFill>
                <a:latin typeface="Microsoft YaHei"/>
              </a:rPr>
              <a:t>本次投标以 OneTeam 承接核心系统责任，以弹性供给提供资源保障，以统一治理降低管理成本，并通过 AI 与 CKP 增强交付效率与专项能力。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450" y="1836869"/>
            <a:ext cx="2976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icrosoft YaHei"/>
              </a:rPr>
              <a:t>AZ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696" y="1807501"/>
            <a:ext cx="2293747" cy="176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5" b="1" i="0">
                <a:solidFill>
                  <a:srgbClr val="BC2719"/>
                </a:solidFill>
                <a:latin typeface="Microsoft YaHei"/>
              </a:rPr>
              <a:t>投标判断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696" y="2026708"/>
            <a:ext cx="2293747" cy="2965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2C3541"/>
                </a:solidFill>
                <a:latin typeface="Microsoft YaHei"/>
              </a:rPr>
              <a:t>本次投标的重点不是单点资源供给，而是建立长期可承接的 DDC NEXT 体系。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74226" y="1913069"/>
            <a:ext cx="338658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700" b="1" i="0">
                <a:solidFill>
                  <a:srgbClr val="BA1F14"/>
                </a:solidFill>
                <a:latin typeface="Microsoft YaHe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4482" y="1917170"/>
            <a:ext cx="812779" cy="2965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D3642"/>
                </a:solidFill>
                <a:latin typeface="Microsoft YaHei"/>
              </a:rPr>
              <a:t>OneTeam 主责 承接核心系统结果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82698" y="1913069"/>
            <a:ext cx="338658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700" b="1" i="0">
                <a:solidFill>
                  <a:srgbClr val="BA1F14"/>
                </a:solidFill>
                <a:latin typeface="Microsoft Ya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22954" y="1917170"/>
            <a:ext cx="609584" cy="2965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D3642"/>
                </a:solidFill>
                <a:latin typeface="Microsoft YaHei"/>
              </a:rPr>
              <a:t>四个关键支柱 构成完整方案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2051" y="1836869"/>
            <a:ext cx="3934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icrosoft YaHei"/>
              </a:rPr>
              <a:t>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7074" y="1807501"/>
            <a:ext cx="2181038" cy="176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5" b="1" i="0">
                <a:solidFill>
                  <a:srgbClr val="BC2719"/>
                </a:solidFill>
                <a:latin typeface="Microsoft YaHei"/>
              </a:rPr>
              <a:t>交付承诺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7074" y="2026708"/>
            <a:ext cx="2181038" cy="2965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2C3541"/>
                </a:solidFill>
                <a:latin typeface="Microsoft YaHei"/>
              </a:rPr>
              <a:t>责任、资源、治理与能力增强一体化响应 AZ 招标目标。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517" y="2895203"/>
            <a:ext cx="5257668" cy="16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5" b="1" i="0">
                <a:solidFill>
                  <a:srgbClr val="C22417"/>
                </a:solidFill>
                <a:latin typeface="Microsoft YaHei"/>
              </a:rPr>
              <a:t>OneTeam 主责交付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517" y="3128433"/>
            <a:ext cx="5257668" cy="158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313B47"/>
                </a:solidFill>
                <a:latin typeface="Microsoft YaHei"/>
              </a:rPr>
              <a:t>围绕 AZ 核心系统建立稳定主责交付组织，对持续交付、运营保障和知识沉淀负责。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7508" y="2895203"/>
            <a:ext cx="5257668" cy="16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5" b="1" i="0">
                <a:solidFill>
                  <a:srgbClr val="C22417"/>
                </a:solidFill>
                <a:latin typeface="Microsoft YaHei"/>
              </a:rPr>
              <a:t>弹性供给补位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7508" y="3128433"/>
            <a:ext cx="5257668" cy="158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313B47"/>
                </a:solidFill>
                <a:latin typeface="Microsoft YaHei"/>
              </a:rPr>
              <a:t>通过可认证、可调度、可快速接入的能力池支撑峰值产能、关键岗位补位和专项专家支援。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517" y="4351469"/>
            <a:ext cx="5257668" cy="16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5" b="1" i="0">
                <a:solidFill>
                  <a:srgbClr val="C22417"/>
                </a:solidFill>
                <a:latin typeface="Microsoft YaHei"/>
              </a:rPr>
              <a:t>统一治理减负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517" y="4584700"/>
            <a:ext cx="5257668" cy="158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313B47"/>
                </a:solidFill>
                <a:latin typeface="Microsoft YaHei"/>
              </a:rPr>
              <a:t>以统一工具链、控制点和经营看板承接质量、安全、审计与经营管理要求，降低协同复杂度。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7508" y="4351469"/>
            <a:ext cx="5257668" cy="16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5" b="1" i="0">
                <a:solidFill>
                  <a:srgbClr val="C22417"/>
                </a:solidFill>
                <a:latin typeface="Microsoft YaHei"/>
              </a:rPr>
              <a:t>AI / CKP 增强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7508" y="4584700"/>
            <a:ext cx="5257668" cy="158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313B47"/>
                </a:solidFill>
                <a:latin typeface="Microsoft YaHei"/>
              </a:rPr>
              <a:t>把 AI 和 CKP 纳入主交付流程，形成效率提升、专项落地和持续优化能力，而不是独立能力展示。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450" y="5850069"/>
            <a:ext cx="507987" cy="135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BE2618"/>
                </a:solidFill>
                <a:latin typeface="Microsoft YaHei"/>
              </a:rPr>
              <a:t>核心结论：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67396" y="6468533"/>
            <a:ext cx="424777" cy="143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 i="0">
                <a:solidFill>
                  <a:srgbClr val="8B95A3"/>
                </a:solidFill>
                <a:latin typeface="Microsoft YaHei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82587" y="397933"/>
            <a:ext cx="67731" cy="558800"/>
          </a:xfrm>
          <a:prstGeom prst="ellipse">
            <a:avLst/>
          </a:prstGeom>
          <a:solidFill>
            <a:srgbClr val="D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82587" y="2311796"/>
            <a:ext cx="3689654" cy="854339"/>
          </a:xfrm>
          <a:prstGeom prst="roundRect">
            <a:avLst/>
          </a:prstGeom>
          <a:solidFill>
            <a:srgbClr val="F9F9F9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744025" y="2455730"/>
            <a:ext cx="284287" cy="194733"/>
          </a:xfrm>
          <a:prstGeom prst="ellipse">
            <a:avLst/>
          </a:prstGeom>
          <a:solidFill>
            <a:srgbClr val="D22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82587" y="3284669"/>
            <a:ext cx="3689654" cy="854339"/>
          </a:xfrm>
          <a:prstGeom prst="roundRect">
            <a:avLst/>
          </a:prstGeom>
          <a:solidFill>
            <a:srgbClr val="F9F9F9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744025" y="3428603"/>
            <a:ext cx="284287" cy="194733"/>
          </a:xfrm>
          <a:prstGeom prst="ellipse">
            <a:avLst/>
          </a:prstGeom>
          <a:solidFill>
            <a:srgbClr val="D22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758015" y="1887669"/>
            <a:ext cx="2675399" cy="2675466"/>
          </a:xfrm>
          <a:prstGeom prst="ellipse">
            <a:avLst/>
          </a:prstGeom>
          <a:solidFill>
            <a:srgbClr val="CC1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951156" y="2209403"/>
            <a:ext cx="2289250" cy="2032000"/>
          </a:xfrm>
          <a:prstGeom prst="ellipse">
            <a:avLst/>
          </a:prstGeom>
          <a:solidFill>
            <a:srgbClr val="FFF9F8"/>
          </a:solidFill>
          <a:ln w="9525">
            <a:solidFill>
              <a:srgbClr val="D27466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19320" y="2311796"/>
            <a:ext cx="3689654" cy="854339"/>
          </a:xfrm>
          <a:prstGeom prst="roundRect">
            <a:avLst/>
          </a:prstGeom>
          <a:solidFill>
            <a:srgbClr val="F9F9F9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80757" y="2455730"/>
            <a:ext cx="284287" cy="194733"/>
          </a:xfrm>
          <a:prstGeom prst="ellipse">
            <a:avLst/>
          </a:prstGeom>
          <a:solidFill>
            <a:srgbClr val="D22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19320" y="3284669"/>
            <a:ext cx="3689654" cy="854339"/>
          </a:xfrm>
          <a:prstGeom prst="roundRect">
            <a:avLst/>
          </a:prstGeom>
          <a:solidFill>
            <a:srgbClr val="F9F9F9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80757" y="3428603"/>
            <a:ext cx="284287" cy="194733"/>
          </a:xfrm>
          <a:prstGeom prst="ellipse">
            <a:avLst/>
          </a:prstGeom>
          <a:solidFill>
            <a:srgbClr val="D22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82587" y="4986469"/>
            <a:ext cx="2730431" cy="536971"/>
          </a:xfrm>
          <a:prstGeom prst="roundRect">
            <a:avLst/>
          </a:prstGeom>
          <a:solidFill>
            <a:srgbClr val="F9F9F9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14617" y="4986469"/>
            <a:ext cx="2730431" cy="536971"/>
          </a:xfrm>
          <a:prstGeom prst="roundRect">
            <a:avLst/>
          </a:prstGeom>
          <a:solidFill>
            <a:srgbClr val="F9F9F9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46646" y="4986469"/>
            <a:ext cx="2730431" cy="536971"/>
          </a:xfrm>
          <a:prstGeom prst="roundRect">
            <a:avLst/>
          </a:prstGeom>
          <a:solidFill>
            <a:srgbClr val="F9F9F9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78675" y="4986469"/>
            <a:ext cx="2730431" cy="536971"/>
          </a:xfrm>
          <a:prstGeom prst="roundRect">
            <a:avLst/>
          </a:prstGeom>
          <a:solidFill>
            <a:srgbClr val="F9F9F9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31763" y="414866"/>
            <a:ext cx="67731" cy="313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D80000"/>
                </a:solidFill>
                <a:latin typeface="Microsoft YaHei"/>
              </a:rPr>
              <a:t>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43931" y="486833"/>
            <a:ext cx="948242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 i="0">
                <a:solidFill>
                  <a:srgbClr val="BE2A1D"/>
                </a:solidFill>
                <a:latin typeface="Microsoft YaHei"/>
              </a:rPr>
              <a:t>数字转型新动力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2715" y="484319"/>
            <a:ext cx="3017497" cy="386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0242A"/>
                </a:solidFill>
                <a:latin typeface="Microsoft YaHei"/>
              </a:rPr>
              <a:t>需求拆解与响应原则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587" y="1075266"/>
            <a:ext cx="9990416" cy="2620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222832"/>
                </a:solidFill>
                <a:latin typeface="Microsoft YaHei"/>
              </a:rPr>
              <a:t>本方案按照“需求项 - 响应原则 - 对应章节”的方式组织，确保每项招标关注点均有明确响应路径与交付载体。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517" y="2475177"/>
            <a:ext cx="1221153" cy="155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E2618"/>
                </a:solidFill>
                <a:latin typeface="Microsoft YaHei"/>
              </a:rPr>
              <a:t>OneTeam 承接责任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4025" y="2455730"/>
            <a:ext cx="284287" cy="1947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 i="0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517" y="2718196"/>
            <a:ext cx="3401795" cy="3209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313B47"/>
                </a:solidFill>
                <a:latin typeface="Microsoft YaHei"/>
              </a:rPr>
              <a:t>把“责任承接”作为首要判断点，由稳定 Pod 对核心系统生命周期结果负责，而不是只提供短期角色补位。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517" y="3448049"/>
            <a:ext cx="812779" cy="155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E2618"/>
                </a:solidFill>
                <a:latin typeface="Microsoft YaHei"/>
              </a:rPr>
              <a:t>弹性能力供给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4025" y="3428603"/>
            <a:ext cx="284287" cy="1947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 i="0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517" y="3691069"/>
            <a:ext cx="3401795" cy="3209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313B47"/>
                </a:solidFill>
                <a:latin typeface="Microsoft YaHei"/>
              </a:rPr>
              <a:t>对高峰期、专项期和关键技能缺口建立可认证、可调度、可快速接入的支撑机制，保证连续交付。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87728" y="2902876"/>
            <a:ext cx="1015974" cy="2692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50" b="1" i="0">
                <a:solidFill>
                  <a:srgbClr val="C12618"/>
                </a:solidFill>
                <a:latin typeface="Microsoft YaHei"/>
              </a:rPr>
              <a:t>响应原则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96855" y="3239822"/>
            <a:ext cx="997718" cy="307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75" b="1" i="0">
                <a:solidFill>
                  <a:srgbClr val="4D5766"/>
                </a:solidFill>
                <a:latin typeface="Microsoft YaHei"/>
              </a:rPr>
              <a:t>需求项 - 原则 - 章节 形成闭环映射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9015" y="1735269"/>
            <a:ext cx="863578" cy="2640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icrosoft YaHei"/>
              </a:rPr>
              <a:t>需求对齐 先看边界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5614" y="2751269"/>
            <a:ext cx="863578" cy="2640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icrosoft YaHei"/>
              </a:rPr>
              <a:t>能力增强 进入主流程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39015" y="4451482"/>
            <a:ext cx="863578" cy="2640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icrosoft YaHei"/>
              </a:rPr>
              <a:t>章节映射 形成闭环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92370" y="2751269"/>
            <a:ext cx="863578" cy="2640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icrosoft YaHei"/>
              </a:rPr>
              <a:t>管理减负 统一接口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63250" y="2475177"/>
            <a:ext cx="812779" cy="155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E2618"/>
                </a:solidFill>
                <a:latin typeface="Microsoft YaHei"/>
              </a:rPr>
              <a:t>统一治理接口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80757" y="2455730"/>
            <a:ext cx="284287" cy="1947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 i="0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63250" y="2718196"/>
            <a:ext cx="3401795" cy="3209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313B47"/>
                </a:solidFill>
                <a:latin typeface="Microsoft YaHei"/>
              </a:rPr>
              <a:t>通过工具链、控制点与经营看板统一承接质量、安全、审计和经营要求，降低多伙伴协同复杂度。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63250" y="3448049"/>
            <a:ext cx="1148395" cy="155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E2618"/>
                </a:solidFill>
                <a:latin typeface="Microsoft YaHei"/>
              </a:rPr>
              <a:t>AI / CKP 专项增强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80757" y="3428603"/>
            <a:ext cx="284287" cy="1947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 i="0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63250" y="3691069"/>
            <a:ext cx="3401795" cy="3209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313B47"/>
                </a:solidFill>
                <a:latin typeface="Microsoft YaHei"/>
              </a:rPr>
              <a:t>把 AI Engineering 和 CKP 从“能力说明”转化为有路径、有交付件、有验收口径的专项落地机制。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5718" y="5096536"/>
            <a:ext cx="2544169" cy="146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5" b="1" i="0">
                <a:solidFill>
                  <a:srgbClr val="C22417"/>
                </a:solidFill>
                <a:latin typeface="Microsoft YaHei"/>
              </a:rPr>
              <a:t>03 总体方案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5718" y="5284919"/>
            <a:ext cx="2544169" cy="128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25" b="1" i="0">
                <a:solidFill>
                  <a:srgbClr val="4F5968"/>
                </a:solidFill>
                <a:latin typeface="Microsoft YaHei"/>
              </a:rPr>
              <a:t>承接服务主线与 Operating Model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07748" y="5096536"/>
            <a:ext cx="2544169" cy="146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5" b="1" i="0">
                <a:solidFill>
                  <a:srgbClr val="C22417"/>
                </a:solidFill>
                <a:latin typeface="Microsoft YaHei"/>
              </a:rPr>
              <a:t>04 实施机制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07748" y="5284919"/>
            <a:ext cx="2544169" cy="128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25" b="1" i="0">
                <a:solidFill>
                  <a:srgbClr val="4F5968"/>
                </a:solidFill>
                <a:latin typeface="Microsoft YaHei"/>
              </a:rPr>
              <a:t>对应组织设计、责任承接与阶段路径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39777" y="5096536"/>
            <a:ext cx="2544169" cy="146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5" b="1" i="0">
                <a:solidFill>
                  <a:srgbClr val="C22417"/>
                </a:solidFill>
                <a:latin typeface="Microsoft YaHei"/>
              </a:rPr>
              <a:t>05 保障治理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39777" y="5284919"/>
            <a:ext cx="2544169" cy="128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25" b="1" i="0">
                <a:solidFill>
                  <a:srgbClr val="4F5968"/>
                </a:solidFill>
                <a:latin typeface="Microsoft YaHei"/>
              </a:rPr>
              <a:t>对应资源保障、统一治理与减负机制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71806" y="5096536"/>
            <a:ext cx="2544169" cy="146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5" b="1" i="0">
                <a:solidFill>
                  <a:srgbClr val="C22417"/>
                </a:solidFill>
                <a:latin typeface="Microsoft YaHei"/>
              </a:rPr>
              <a:t>06-08 能力承诺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71806" y="5284919"/>
            <a:ext cx="2544169" cy="128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25" b="1" i="0">
                <a:solidFill>
                  <a:srgbClr val="4F5968"/>
                </a:solidFill>
                <a:latin typeface="Microsoft YaHei"/>
              </a:rPr>
              <a:t>对应 AI 证据、CKP 专项与交付承诺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67396" y="6468533"/>
            <a:ext cx="424777" cy="143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 i="0">
                <a:solidFill>
                  <a:srgbClr val="8B95A3"/>
                </a:solidFill>
                <a:latin typeface="Microsoft YaHei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82587" y="397933"/>
            <a:ext cx="67731" cy="558800"/>
          </a:xfrm>
          <a:prstGeom prst="ellipse">
            <a:avLst/>
          </a:prstGeom>
          <a:solidFill>
            <a:srgbClr val="D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82587" y="1667536"/>
            <a:ext cx="5545528" cy="1320800"/>
          </a:xfrm>
          <a:prstGeom prst="roundRect">
            <a:avLst/>
          </a:prstGeom>
          <a:solidFill>
            <a:srgbClr val="F9F9F9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63579" y="1667536"/>
            <a:ext cx="5545528" cy="1320800"/>
          </a:xfrm>
          <a:prstGeom prst="roundRect">
            <a:avLst/>
          </a:prstGeom>
          <a:solidFill>
            <a:srgbClr val="F9F9F9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82587" y="3123803"/>
            <a:ext cx="5545528" cy="1320800"/>
          </a:xfrm>
          <a:prstGeom prst="roundRect">
            <a:avLst/>
          </a:prstGeom>
          <a:solidFill>
            <a:srgbClr val="F9F9F9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63579" y="3123803"/>
            <a:ext cx="5545528" cy="1320800"/>
          </a:xfrm>
          <a:prstGeom prst="roundRect">
            <a:avLst/>
          </a:prstGeom>
          <a:solidFill>
            <a:srgbClr val="F9F9F9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71605" y="4884869"/>
            <a:ext cx="152396" cy="152400"/>
          </a:xfrm>
          <a:prstGeom prst="ellipse">
            <a:avLst/>
          </a:prstGeom>
          <a:solidFill>
            <a:srgbClr val="CE21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3634" y="4884869"/>
            <a:ext cx="152396" cy="152400"/>
          </a:xfrm>
          <a:prstGeom prst="ellipse">
            <a:avLst/>
          </a:prstGeom>
          <a:solidFill>
            <a:srgbClr val="CE21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35664" y="4884869"/>
            <a:ext cx="152396" cy="152400"/>
          </a:xfrm>
          <a:prstGeom prst="ellipse">
            <a:avLst/>
          </a:prstGeom>
          <a:solidFill>
            <a:srgbClr val="CE21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267693" y="4884869"/>
            <a:ext cx="152396" cy="152400"/>
          </a:xfrm>
          <a:prstGeom prst="ellipse">
            <a:avLst/>
          </a:prstGeom>
          <a:solidFill>
            <a:srgbClr val="CE21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2587" y="5883936"/>
            <a:ext cx="11226519" cy="448336"/>
          </a:xfrm>
          <a:prstGeom prst="roundRect">
            <a:avLst/>
          </a:prstGeom>
          <a:solidFill>
            <a:srgbClr val="FFF8F7"/>
          </a:solidFill>
          <a:ln w="9525">
            <a:solidFill>
              <a:srgbClr val="DDD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31763" y="414866"/>
            <a:ext cx="67731" cy="313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D80000"/>
                </a:solidFill>
                <a:latin typeface="Microsoft YaHei"/>
              </a:rPr>
              <a:t>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3931" y="486833"/>
            <a:ext cx="948242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 i="0">
                <a:solidFill>
                  <a:srgbClr val="BE2A1D"/>
                </a:solidFill>
                <a:latin typeface="Microsoft YaHei"/>
              </a:rPr>
              <a:t>数字转型新动力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2715" y="484319"/>
            <a:ext cx="2682278" cy="386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0242A"/>
                </a:solidFill>
                <a:latin typeface="Microsoft YaHei"/>
              </a:rPr>
              <a:t>总体服务方案总览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587" y="1075266"/>
            <a:ext cx="9990416" cy="2620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222832"/>
                </a:solidFill>
                <a:latin typeface="Microsoft YaHei"/>
              </a:rPr>
              <a:t>整体方案由 OneTeam 主责交付、弹性能力供给、统一治理接口以及 AI/CKP 增强能力共同构成，形成面向核心系统的完整服务体系。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517" y="1828403"/>
            <a:ext cx="5257668" cy="16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5" b="1" i="0">
                <a:solidFill>
                  <a:srgbClr val="C22417"/>
                </a:solidFill>
                <a:latin typeface="Microsoft YaHei"/>
              </a:rPr>
              <a:t>OneTeam 主责层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517" y="2061633"/>
            <a:ext cx="5257668" cy="158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313B47"/>
                </a:solidFill>
                <a:latin typeface="Microsoft YaHei"/>
              </a:rPr>
              <a:t>负责核心系统持续交付、结果承接、知识沉淀与稳定团队运行，是整体服务体系的责任中心。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7508" y="1828403"/>
            <a:ext cx="5257668" cy="16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5" b="1" i="0">
                <a:solidFill>
                  <a:srgbClr val="C22417"/>
                </a:solidFill>
                <a:latin typeface="Microsoft YaHei"/>
              </a:rPr>
              <a:t>弹性供给层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7508" y="2061633"/>
            <a:ext cx="5257668" cy="158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313B47"/>
                </a:solidFill>
                <a:latin typeface="Microsoft YaHei"/>
              </a:rPr>
              <a:t>负责高峰产能补位、专家支援和关键能力补充，保障不同阶段的交付连续性和资源弹性。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517" y="3284669"/>
            <a:ext cx="5257668" cy="16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5" b="1" i="0">
                <a:solidFill>
                  <a:srgbClr val="C22417"/>
                </a:solidFill>
                <a:latin typeface="Microsoft YaHei"/>
              </a:rPr>
              <a:t>统一治理接口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517" y="3517900"/>
            <a:ext cx="5257668" cy="158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313B47"/>
                </a:solidFill>
                <a:latin typeface="Microsoft YaHei"/>
              </a:rPr>
              <a:t>负责质量、安全、审计、经营和协同控制，让 AZ 以单一界面完成管理判断和风险前置。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7508" y="3284669"/>
            <a:ext cx="5257668" cy="16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5" b="1" i="0">
                <a:solidFill>
                  <a:srgbClr val="C22417"/>
                </a:solidFill>
                <a:latin typeface="Microsoft YaHei"/>
              </a:rPr>
              <a:t>AI / CKP 增强层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7508" y="3517900"/>
            <a:ext cx="5257668" cy="158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313B47"/>
                </a:solidFill>
                <a:latin typeface="Microsoft YaHei"/>
              </a:rPr>
              <a:t>把 AI 与 CKP 嵌入需求、开发、测试、运营和专项建设流程，形成持续增强能力。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587" y="5121936"/>
            <a:ext cx="2730431" cy="146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5" b="1" i="0">
                <a:solidFill>
                  <a:srgbClr val="C32417"/>
                </a:solidFill>
                <a:latin typeface="Microsoft YaHei"/>
              </a:rPr>
              <a:t>责任承接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587" y="5318786"/>
            <a:ext cx="2730431" cy="128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25" b="1" i="0">
                <a:solidFill>
                  <a:srgbClr val="4D5766"/>
                </a:solidFill>
                <a:latin typeface="Microsoft YaHei"/>
              </a:rPr>
              <a:t>先完成核心系统责任交接与稳定团队建制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14617" y="5121936"/>
            <a:ext cx="2730431" cy="146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5" b="1" i="0">
                <a:solidFill>
                  <a:srgbClr val="C32417"/>
                </a:solidFill>
                <a:latin typeface="Microsoft YaHei"/>
              </a:rPr>
              <a:t>资源补位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14617" y="5318786"/>
            <a:ext cx="2730431" cy="128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25" b="1" i="0">
                <a:solidFill>
                  <a:srgbClr val="4D5766"/>
                </a:solidFill>
                <a:latin typeface="Microsoft YaHei"/>
              </a:rPr>
              <a:t>通过认证供给和共享专家满足容量与专项需求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6646" y="5121936"/>
            <a:ext cx="2730431" cy="146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5" b="1" i="0">
                <a:solidFill>
                  <a:srgbClr val="C32417"/>
                </a:solidFill>
                <a:latin typeface="Microsoft YaHei"/>
              </a:rPr>
              <a:t>治理落地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46646" y="5318786"/>
            <a:ext cx="2730431" cy="128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25" b="1" i="0">
                <a:solidFill>
                  <a:srgbClr val="4D5766"/>
                </a:solidFill>
                <a:latin typeface="Microsoft YaHei"/>
              </a:rPr>
              <a:t>同步建立治理底座、控制点和经营看板机制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78675" y="5121936"/>
            <a:ext cx="2730431" cy="146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5" b="1" i="0">
                <a:solidFill>
                  <a:srgbClr val="C32417"/>
                </a:solidFill>
                <a:latin typeface="Microsoft YaHei"/>
              </a:rPr>
              <a:t>能力增强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78675" y="5318786"/>
            <a:ext cx="2730431" cy="128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25" b="1" i="0">
                <a:solidFill>
                  <a:srgbClr val="4D5766"/>
                </a:solidFill>
                <a:latin typeface="Microsoft YaHei"/>
              </a:rPr>
              <a:t>分阶段导入 AI 快赢场景与 CKP 专项建设闭环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3450" y="6036336"/>
            <a:ext cx="711182" cy="135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BE2618"/>
                </a:solidFill>
                <a:latin typeface="Microsoft YaHei"/>
              </a:rPr>
              <a:t>总体服务逻辑：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67396" y="6468533"/>
            <a:ext cx="424777" cy="143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 i="0">
                <a:solidFill>
                  <a:srgbClr val="8B95A3"/>
                </a:solidFill>
                <a:latin typeface="Microsoft YaHei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82587" y="330200"/>
            <a:ext cx="67731" cy="558800"/>
          </a:xfrm>
          <a:prstGeom prst="ellipse">
            <a:avLst/>
          </a:prstGeom>
          <a:solidFill>
            <a:srgbClr val="D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82587" y="1421341"/>
            <a:ext cx="948242" cy="728133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D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515495" y="1421341"/>
            <a:ext cx="10193611" cy="72813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74760" y="1480608"/>
            <a:ext cx="3324406" cy="609600"/>
          </a:xfrm>
          <a:prstGeom prst="roundRect">
            <a:avLst/>
          </a:prstGeom>
          <a:solidFill>
            <a:srgbClr val="FFFAFA"/>
          </a:solidFill>
          <a:ln w="9525">
            <a:solidFill>
              <a:srgbClr val="D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60508" y="1548341"/>
            <a:ext cx="270926" cy="143933"/>
          </a:xfrm>
          <a:prstGeom prst="ellipse">
            <a:avLst/>
          </a:prstGeom>
          <a:solidFill>
            <a:srgbClr val="FFF5F5"/>
          </a:solidFill>
          <a:ln w="9525">
            <a:solidFill>
              <a:srgbClr val="D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949965" y="1480608"/>
            <a:ext cx="3324538" cy="609600"/>
          </a:xfrm>
          <a:prstGeom prst="roundRect">
            <a:avLst/>
          </a:prstGeom>
          <a:solidFill>
            <a:srgbClr val="FFFAFA"/>
          </a:solidFill>
          <a:ln w="9525">
            <a:solidFill>
              <a:srgbClr val="D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935846" y="1548341"/>
            <a:ext cx="270926" cy="143933"/>
          </a:xfrm>
          <a:prstGeom prst="ellipse">
            <a:avLst/>
          </a:prstGeom>
          <a:solidFill>
            <a:srgbClr val="FFF5F5"/>
          </a:solidFill>
          <a:ln w="9525">
            <a:solidFill>
              <a:srgbClr val="D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25303" y="1480608"/>
            <a:ext cx="3324406" cy="609600"/>
          </a:xfrm>
          <a:prstGeom prst="roundRect">
            <a:avLst/>
          </a:prstGeom>
          <a:solidFill>
            <a:srgbClr val="FFFAFA"/>
          </a:solidFill>
          <a:ln w="9525">
            <a:solidFill>
              <a:srgbClr val="D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311051" y="1548341"/>
            <a:ext cx="270926" cy="143933"/>
          </a:xfrm>
          <a:prstGeom prst="ellipse">
            <a:avLst/>
          </a:prstGeom>
          <a:solidFill>
            <a:srgbClr val="FFF5F5"/>
          </a:solidFill>
          <a:ln w="9525">
            <a:solidFill>
              <a:srgbClr val="D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2587" y="2191808"/>
            <a:ext cx="948242" cy="939800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D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515495" y="2191808"/>
            <a:ext cx="10193611" cy="939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574760" y="2251075"/>
            <a:ext cx="2480671" cy="609600"/>
          </a:xfrm>
          <a:prstGeom prst="roundRect">
            <a:avLst/>
          </a:prstGeom>
          <a:solidFill>
            <a:srgbClr val="FFFAFA"/>
          </a:solidFill>
          <a:ln w="9525">
            <a:solidFill>
              <a:srgbClr val="D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16773" y="2318808"/>
            <a:ext cx="270926" cy="143933"/>
          </a:xfrm>
          <a:prstGeom prst="ellipse">
            <a:avLst/>
          </a:prstGeom>
          <a:solidFill>
            <a:srgbClr val="FFF5F5"/>
          </a:solidFill>
          <a:ln w="9525">
            <a:solidFill>
              <a:srgbClr val="D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106230" y="2251075"/>
            <a:ext cx="2480671" cy="609600"/>
          </a:xfrm>
          <a:prstGeom prst="roundRect">
            <a:avLst/>
          </a:prstGeom>
          <a:solidFill>
            <a:srgbClr val="FFFAFA"/>
          </a:solidFill>
          <a:ln w="9525">
            <a:solidFill>
              <a:srgbClr val="D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48243" y="2318808"/>
            <a:ext cx="270926" cy="143933"/>
          </a:xfrm>
          <a:prstGeom prst="ellipse">
            <a:avLst/>
          </a:prstGeom>
          <a:solidFill>
            <a:srgbClr val="FFF5F5"/>
          </a:solidFill>
          <a:ln w="9525">
            <a:solidFill>
              <a:srgbClr val="D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37700" y="2251075"/>
            <a:ext cx="2480671" cy="609600"/>
          </a:xfrm>
          <a:prstGeom prst="roundRect">
            <a:avLst/>
          </a:prstGeom>
          <a:solidFill>
            <a:srgbClr val="FFFAFA"/>
          </a:solidFill>
          <a:ln w="9525">
            <a:solidFill>
              <a:srgbClr val="D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9713" y="2318808"/>
            <a:ext cx="270926" cy="143933"/>
          </a:xfrm>
          <a:prstGeom prst="ellipse">
            <a:avLst/>
          </a:prstGeom>
          <a:solidFill>
            <a:srgbClr val="FFF5F5"/>
          </a:solidFill>
          <a:ln w="9525">
            <a:solidFill>
              <a:srgbClr val="D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69170" y="2251075"/>
            <a:ext cx="2480671" cy="609600"/>
          </a:xfrm>
          <a:prstGeom prst="roundRect">
            <a:avLst/>
          </a:prstGeom>
          <a:solidFill>
            <a:srgbClr val="FFFAFA"/>
          </a:solidFill>
          <a:ln w="9525">
            <a:solidFill>
              <a:srgbClr val="D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311183" y="2318808"/>
            <a:ext cx="270926" cy="143933"/>
          </a:xfrm>
          <a:prstGeom prst="ellipse">
            <a:avLst/>
          </a:prstGeom>
          <a:solidFill>
            <a:srgbClr val="FFF5F5"/>
          </a:solidFill>
          <a:ln w="9525">
            <a:solidFill>
              <a:srgbClr val="D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574760" y="2894541"/>
            <a:ext cx="10075081" cy="177800"/>
          </a:xfrm>
          <a:prstGeom prst="ellipse">
            <a:avLst/>
          </a:prstGeom>
          <a:solidFill>
            <a:srgbClr val="FF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2587" y="3173941"/>
            <a:ext cx="948242" cy="728133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D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515495" y="3173941"/>
            <a:ext cx="10193611" cy="72813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574760" y="3233208"/>
            <a:ext cx="3324406" cy="609600"/>
          </a:xfrm>
          <a:prstGeom prst="roundRect">
            <a:avLst/>
          </a:prstGeom>
          <a:solidFill>
            <a:srgbClr val="FFF8EE"/>
          </a:solidFill>
          <a:ln w="9525">
            <a:solidFill>
              <a:srgbClr val="D083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60508" y="3300941"/>
            <a:ext cx="270926" cy="143933"/>
          </a:xfrm>
          <a:prstGeom prst="ellipse">
            <a:avLst/>
          </a:prstGeom>
          <a:solidFill>
            <a:srgbClr val="F6F8FF"/>
          </a:solidFill>
          <a:ln w="9525">
            <a:solidFill>
              <a:srgbClr val="6F8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949965" y="3233208"/>
            <a:ext cx="3324538" cy="609600"/>
          </a:xfrm>
          <a:prstGeom prst="roundRect">
            <a:avLst/>
          </a:prstGeom>
          <a:solidFill>
            <a:srgbClr val="FFF8EE"/>
          </a:solidFill>
          <a:ln w="9525">
            <a:solidFill>
              <a:srgbClr val="D083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35846" y="3300941"/>
            <a:ext cx="270926" cy="143933"/>
          </a:xfrm>
          <a:prstGeom prst="ellipse">
            <a:avLst/>
          </a:prstGeom>
          <a:solidFill>
            <a:srgbClr val="F6F8FF"/>
          </a:solidFill>
          <a:ln w="9525">
            <a:solidFill>
              <a:srgbClr val="6F8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5303" y="3233208"/>
            <a:ext cx="3324406" cy="609600"/>
          </a:xfrm>
          <a:prstGeom prst="roundRect">
            <a:avLst/>
          </a:prstGeom>
          <a:solidFill>
            <a:srgbClr val="FFF8EE"/>
          </a:solidFill>
          <a:ln w="9525">
            <a:solidFill>
              <a:srgbClr val="D083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311051" y="3300941"/>
            <a:ext cx="270926" cy="143933"/>
          </a:xfrm>
          <a:prstGeom prst="ellipse">
            <a:avLst/>
          </a:prstGeom>
          <a:solidFill>
            <a:srgbClr val="F6F8FF"/>
          </a:solidFill>
          <a:ln w="9525">
            <a:solidFill>
              <a:srgbClr val="6F8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82587" y="3944408"/>
            <a:ext cx="948242" cy="728133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D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515495" y="3944408"/>
            <a:ext cx="10193611" cy="72813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574760" y="4003675"/>
            <a:ext cx="3324406" cy="609600"/>
          </a:xfrm>
          <a:prstGeom prst="roundRect">
            <a:avLst/>
          </a:prstGeom>
          <a:solidFill>
            <a:srgbClr val="FAFBFF"/>
          </a:solidFill>
          <a:ln w="9525">
            <a:solidFill>
              <a:srgbClr val="6F8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60508" y="4071408"/>
            <a:ext cx="270926" cy="143933"/>
          </a:xfrm>
          <a:prstGeom prst="ellipse">
            <a:avLst/>
          </a:prstGeom>
          <a:solidFill>
            <a:srgbClr val="F6F8FF"/>
          </a:solidFill>
          <a:ln w="9525">
            <a:solidFill>
              <a:srgbClr val="6F8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949965" y="4003675"/>
            <a:ext cx="3324538" cy="609600"/>
          </a:xfrm>
          <a:prstGeom prst="roundRect">
            <a:avLst/>
          </a:prstGeom>
          <a:solidFill>
            <a:srgbClr val="FAFBFF"/>
          </a:solidFill>
          <a:ln w="9525">
            <a:solidFill>
              <a:srgbClr val="6F8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935846" y="4071408"/>
            <a:ext cx="270926" cy="143933"/>
          </a:xfrm>
          <a:prstGeom prst="ellipse">
            <a:avLst/>
          </a:prstGeom>
          <a:solidFill>
            <a:srgbClr val="F6F8FF"/>
          </a:solidFill>
          <a:ln w="9525">
            <a:solidFill>
              <a:srgbClr val="6F8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325303" y="4003675"/>
            <a:ext cx="3324406" cy="609600"/>
          </a:xfrm>
          <a:prstGeom prst="roundRect">
            <a:avLst/>
          </a:prstGeom>
          <a:solidFill>
            <a:srgbClr val="FAFBFF"/>
          </a:solidFill>
          <a:ln w="9525">
            <a:solidFill>
              <a:srgbClr val="6F8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311051" y="4071408"/>
            <a:ext cx="270926" cy="143933"/>
          </a:xfrm>
          <a:prstGeom prst="ellipse">
            <a:avLst/>
          </a:prstGeom>
          <a:solidFill>
            <a:srgbClr val="F6F8FF"/>
          </a:solidFill>
          <a:ln w="9525">
            <a:solidFill>
              <a:srgbClr val="6F8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82587" y="4714875"/>
            <a:ext cx="948242" cy="728133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D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515495" y="4714875"/>
            <a:ext cx="10193611" cy="72813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574760" y="4774141"/>
            <a:ext cx="3324406" cy="609600"/>
          </a:xfrm>
          <a:prstGeom prst="roundRect">
            <a:avLst/>
          </a:prstGeom>
          <a:solidFill>
            <a:srgbClr val="FAFBFF"/>
          </a:solidFill>
          <a:ln w="9525">
            <a:solidFill>
              <a:srgbClr val="6F8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560508" y="4841875"/>
            <a:ext cx="270926" cy="143933"/>
          </a:xfrm>
          <a:prstGeom prst="ellipse">
            <a:avLst/>
          </a:prstGeom>
          <a:solidFill>
            <a:srgbClr val="F6F8FF"/>
          </a:solidFill>
          <a:ln w="9525">
            <a:solidFill>
              <a:srgbClr val="6F8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949965" y="4774141"/>
            <a:ext cx="3324538" cy="609600"/>
          </a:xfrm>
          <a:prstGeom prst="roundRect">
            <a:avLst/>
          </a:prstGeom>
          <a:solidFill>
            <a:srgbClr val="FAFBFF"/>
          </a:solidFill>
          <a:ln w="9525">
            <a:solidFill>
              <a:srgbClr val="6F8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935846" y="4841875"/>
            <a:ext cx="270926" cy="143933"/>
          </a:xfrm>
          <a:prstGeom prst="ellipse">
            <a:avLst/>
          </a:prstGeom>
          <a:solidFill>
            <a:srgbClr val="F6F8FF"/>
          </a:solidFill>
          <a:ln w="9525">
            <a:solidFill>
              <a:srgbClr val="6F8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325303" y="4774141"/>
            <a:ext cx="3324406" cy="609600"/>
          </a:xfrm>
          <a:prstGeom prst="roundRect">
            <a:avLst/>
          </a:prstGeom>
          <a:solidFill>
            <a:srgbClr val="FAFBFF"/>
          </a:solidFill>
          <a:ln w="9525">
            <a:solidFill>
              <a:srgbClr val="6F8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311051" y="4841875"/>
            <a:ext cx="270926" cy="143933"/>
          </a:xfrm>
          <a:prstGeom prst="ellipse">
            <a:avLst/>
          </a:prstGeom>
          <a:solidFill>
            <a:srgbClr val="F6F8FF"/>
          </a:solidFill>
          <a:ln w="9525">
            <a:solidFill>
              <a:srgbClr val="6F8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82587" y="5493808"/>
            <a:ext cx="11226519" cy="313266"/>
          </a:xfrm>
          <a:prstGeom prst="roundRect">
            <a:avLst/>
          </a:prstGeom>
          <a:solidFill>
            <a:srgbClr val="FFFAFA"/>
          </a:solidFill>
          <a:ln w="19050">
            <a:solidFill>
              <a:srgbClr val="D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669875" y="5578474"/>
            <a:ext cx="270926" cy="143933"/>
          </a:xfrm>
          <a:prstGeom prst="ellipse">
            <a:avLst/>
          </a:prstGeom>
          <a:solidFill>
            <a:srgbClr val="FFF5F5"/>
          </a:solidFill>
          <a:ln w="9525">
            <a:solidFill>
              <a:srgbClr val="D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82587" y="5883275"/>
            <a:ext cx="11226519" cy="313266"/>
          </a:xfrm>
          <a:prstGeom prst="roundRect">
            <a:avLst/>
          </a:prstGeom>
          <a:solidFill>
            <a:srgbClr val="FAFBFF"/>
          </a:solidFill>
          <a:ln w="19050">
            <a:solidFill>
              <a:srgbClr val="6F8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928599" y="5967941"/>
            <a:ext cx="270926" cy="143933"/>
          </a:xfrm>
          <a:prstGeom prst="ellipse">
            <a:avLst/>
          </a:prstGeom>
          <a:solidFill>
            <a:srgbClr val="F6F8FF"/>
          </a:solidFill>
          <a:ln w="9525">
            <a:solidFill>
              <a:srgbClr val="6F8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31763" y="414866"/>
            <a:ext cx="67731" cy="313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D80000"/>
                </a:solidFill>
                <a:latin typeface="Microsoft YaHei"/>
              </a:rPr>
              <a:t>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43931" y="486833"/>
            <a:ext cx="948242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 i="0">
                <a:solidFill>
                  <a:srgbClr val="BE2A1D"/>
                </a:solidFill>
                <a:latin typeface="Microsoft YaHei"/>
              </a:rPr>
              <a:t>数字转型新动力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2715" y="416586"/>
            <a:ext cx="6084338" cy="386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0242A"/>
                </a:solidFill>
                <a:latin typeface="Microsoft YaHei"/>
              </a:rPr>
              <a:t>AZ 专属 DDC NEXT Operating Model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2587" y="1007533"/>
            <a:ext cx="8381790" cy="168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222832"/>
                </a:solidFill>
                <a:latin typeface="Microsoft YaHei"/>
              </a:rPr>
              <a:t>该总图统一表达 AZ 的治理边界、OneTeam 主责交付、弹性能力供给、AI 共享交付能力与统一治理接口，是整套方案的核心服务模型。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2587" y="1421341"/>
            <a:ext cx="948242" cy="728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51A22"/>
                </a:solidFill>
                <a:latin typeface="Microsoft YaHei"/>
              </a:rPr>
              <a:t>治理层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42492" y="1560380"/>
            <a:ext cx="711182" cy="119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51A22"/>
                </a:solidFill>
                <a:latin typeface="Microsoft YaHei"/>
              </a:rPr>
              <a:t>业务与产品治理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60508" y="1548341"/>
            <a:ext cx="270926" cy="143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D80000"/>
                </a:solidFill>
                <a:latin typeface="Microsoft YaHei"/>
              </a:rPr>
              <a:t>核心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769489" y="1717675"/>
            <a:ext cx="3061946" cy="106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4A5260"/>
                </a:solidFill>
                <a:latin typeface="Microsoft YaHei"/>
              </a:rPr>
              <a:t>• 业务战略、产品组合与投资优先级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769489" y="1824302"/>
            <a:ext cx="3061946" cy="106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4A5260"/>
                </a:solidFill>
                <a:latin typeface="Microsoft YaHei"/>
              </a:rPr>
              <a:t>• 业务目标、OKR 与年度重点排序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17697" y="1560380"/>
            <a:ext cx="711182" cy="119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51A22"/>
                </a:solidFill>
                <a:latin typeface="Microsoft YaHei"/>
              </a:rPr>
              <a:t>统一规则与标准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35846" y="1548341"/>
            <a:ext cx="270926" cy="143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D80000"/>
                </a:solidFill>
                <a:latin typeface="Microsoft YaHei"/>
              </a:rPr>
              <a:t>核心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144694" y="1717675"/>
            <a:ext cx="3062078" cy="106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4A5260"/>
                </a:solidFill>
                <a:latin typeface="Microsoft YaHei"/>
              </a:rPr>
              <a:t>• 架构、安全、合规与数据原则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144694" y="1824302"/>
            <a:ext cx="3062078" cy="106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4A5260"/>
                </a:solidFill>
                <a:latin typeface="Microsoft YaHei"/>
              </a:rPr>
              <a:t>• 多伙伴准入、绩效与边界规则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93034" y="1560380"/>
            <a:ext cx="682211" cy="119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51A22"/>
                </a:solidFill>
                <a:latin typeface="Microsoft YaHei"/>
              </a:rPr>
              <a:t>决策权归属 AZ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311051" y="1548341"/>
            <a:ext cx="270926" cy="143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D80000"/>
                </a:solidFill>
                <a:latin typeface="Microsoft YaHei"/>
              </a:rPr>
              <a:t>核心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20031" y="1717675"/>
            <a:ext cx="3061946" cy="106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4A5260"/>
                </a:solidFill>
                <a:latin typeface="Microsoft YaHei"/>
              </a:rPr>
              <a:t>• AZ 保留方向、预算与关键决策权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20031" y="1824302"/>
            <a:ext cx="3061946" cy="106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4A5260"/>
                </a:solidFill>
                <a:latin typeface="Microsoft YaHei"/>
              </a:rPr>
              <a:t>• 供应商负责执行，不替代产品判断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82587" y="2191808"/>
            <a:ext cx="948242" cy="939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51A22"/>
                </a:solidFill>
                <a:latin typeface="Microsoft YaHei"/>
              </a:rPr>
              <a:t>OneTeam 主责层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642492" y="2330846"/>
            <a:ext cx="1793433" cy="119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51A22"/>
                </a:solidFill>
                <a:latin typeface="Microsoft YaHei"/>
              </a:rPr>
              <a:t>CRM &amp; Customer Engagement Pod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716773" y="2318808"/>
            <a:ext cx="270926" cy="143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D80000"/>
                </a:solidFill>
                <a:latin typeface="Microsoft YaHei"/>
              </a:rPr>
              <a:t>主责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769489" y="2488141"/>
            <a:ext cx="2218211" cy="106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4A5260"/>
                </a:solidFill>
                <a:latin typeface="Microsoft YaHei"/>
              </a:rPr>
              <a:t>• NCEP、HCP360、AZ Connect 等核心客户域系统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769489" y="2594768"/>
            <a:ext cx="2218211" cy="106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4A5260"/>
                </a:solidFill>
                <a:latin typeface="Microsoft YaHei"/>
              </a:rPr>
              <a:t>• 负责持续迭代、运营保障与 AI 融合落地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73962" y="2330846"/>
            <a:ext cx="976288" cy="119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51A22"/>
                </a:solidFill>
                <a:latin typeface="Microsoft YaHei"/>
              </a:rPr>
              <a:t>Data &amp; Insight Pod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48243" y="2318808"/>
            <a:ext cx="270926" cy="143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D80000"/>
                </a:solidFill>
                <a:latin typeface="Microsoft YaHei"/>
              </a:rPr>
              <a:t>主责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00959" y="2488141"/>
            <a:ext cx="2218211" cy="106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4A5260"/>
                </a:solidFill>
                <a:latin typeface="Microsoft YaHei"/>
              </a:rPr>
              <a:t>• Power Insight、CDP、报告中心与 BI 能力域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300959" y="2594768"/>
            <a:ext cx="2218211" cy="106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4A5260"/>
                </a:solidFill>
                <a:latin typeface="Microsoft YaHei"/>
              </a:rPr>
              <a:t>• 负责数据产品、洞察服务与质量结果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705432" y="2330846"/>
            <a:ext cx="1201575" cy="119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51A22"/>
                </a:solidFill>
                <a:latin typeface="Microsoft YaHei"/>
              </a:rPr>
              <a:t>Customer Platform Pod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779713" y="2318808"/>
            <a:ext cx="270926" cy="143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D80000"/>
                </a:solidFill>
                <a:latin typeface="Microsoft YaHei"/>
              </a:rPr>
              <a:t>主责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832429" y="2488141"/>
            <a:ext cx="2218211" cy="106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4A5260"/>
                </a:solidFill>
                <a:latin typeface="Microsoft YaHei"/>
              </a:rPr>
              <a:t>• HCP Portal、Workmate 与业务前台平台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32429" y="2594768"/>
            <a:ext cx="2218211" cy="106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4A5260"/>
                </a:solidFill>
                <a:latin typeface="Microsoft YaHei"/>
              </a:rPr>
              <a:t>• 负责体验运营与业务流程数字化协同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236902" y="2330846"/>
            <a:ext cx="1510071" cy="119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51A22"/>
                </a:solidFill>
                <a:latin typeface="Microsoft YaHei"/>
              </a:rPr>
              <a:t>Integration &amp; Experience Pod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311183" y="2318808"/>
            <a:ext cx="270926" cy="143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D80000"/>
                </a:solidFill>
                <a:latin typeface="Microsoft YaHei"/>
              </a:rPr>
              <a:t>主责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363899" y="2488141"/>
            <a:ext cx="2218211" cy="106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4A5260"/>
                </a:solidFill>
                <a:latin typeface="Microsoft YaHei"/>
              </a:rPr>
              <a:t>• 跨系统流程、API、门户与消息集成能力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363899" y="2594768"/>
            <a:ext cx="2218211" cy="106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4A5260"/>
                </a:solidFill>
                <a:latin typeface="Microsoft YaHei"/>
              </a:rPr>
              <a:t>• 负责减少伙伴边界摩擦与交付断点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574760" y="2894541"/>
            <a:ext cx="10075081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1" i="0">
                <a:solidFill>
                  <a:srgbClr val="B46306"/>
                </a:solidFill>
                <a:latin typeface="Microsoft YaHei"/>
              </a:rPr>
              <a:t>OneTeam 以稳定产品 Pod 承担系统 Backlog、知识沉淀、持续交付、SLA/SLO、技术债、安全质量与 AI 融合责任，是本次竞标的核心交付主体。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82587" y="3173941"/>
            <a:ext cx="948242" cy="728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51A22"/>
                </a:solidFill>
                <a:latin typeface="Microsoft YaHei"/>
              </a:rPr>
              <a:t>弹性能力 供给层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642492" y="3312980"/>
            <a:ext cx="609584" cy="119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51A22"/>
                </a:solidFill>
                <a:latin typeface="Microsoft YaHei"/>
              </a:rPr>
              <a:t>专业能力供给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60508" y="3300941"/>
            <a:ext cx="270926" cy="143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4D61D5"/>
                </a:solidFill>
                <a:latin typeface="Microsoft YaHei"/>
              </a:rPr>
              <a:t>支撑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769489" y="3470275"/>
            <a:ext cx="3061946" cy="106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4A5260"/>
                </a:solidFill>
                <a:latin typeface="Microsoft YaHei"/>
              </a:rPr>
              <a:t>• AI &amp; Agent、Data、App Engineering、CRM、Quality、Product &amp; UX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769489" y="3576902"/>
            <a:ext cx="3061946" cy="106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4A5260"/>
                </a:solidFill>
                <a:latin typeface="Microsoft YaHei"/>
              </a:rPr>
              <a:t>• 按峰谷需求向 OneTeam 提供阶段性补位与专家支援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017697" y="3312980"/>
            <a:ext cx="711182" cy="119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51A22"/>
                </a:solidFill>
                <a:latin typeface="Microsoft YaHei"/>
              </a:rPr>
              <a:t>认证与动员机制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935846" y="3300941"/>
            <a:ext cx="270926" cy="143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4D61D5"/>
                </a:solidFill>
                <a:latin typeface="Microsoft YaHei"/>
              </a:rPr>
              <a:t>支撑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144694" y="3470275"/>
            <a:ext cx="3062078" cy="106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4A5260"/>
                </a:solidFill>
                <a:latin typeface="Microsoft YaHei"/>
              </a:rPr>
              <a:t>• 统一认证标准、Ready 状态、动员周期与替换 SLA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144694" y="3576902"/>
            <a:ext cx="3062078" cy="106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4A5260"/>
                </a:solidFill>
                <a:latin typeface="Microsoft YaHei"/>
              </a:rPr>
              <a:t>• 确保补充资源可快速进入 AZ 交付体系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393034" y="3312980"/>
            <a:ext cx="609584" cy="119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51A22"/>
                </a:solidFill>
                <a:latin typeface="Microsoft YaHei"/>
              </a:rPr>
              <a:t>共享专家调度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311051" y="3300941"/>
            <a:ext cx="270926" cy="143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4D61D5"/>
                </a:solidFill>
                <a:latin typeface="Microsoft YaHei"/>
              </a:rPr>
              <a:t>支撑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520031" y="3470275"/>
            <a:ext cx="3061946" cy="106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4A5260"/>
                </a:solidFill>
                <a:latin typeface="Microsoft YaHei"/>
              </a:rPr>
              <a:t>• 跨 Pod 共享 AI、数据、质量与架构专家能力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520031" y="3576902"/>
            <a:ext cx="3061946" cy="106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4A5260"/>
                </a:solidFill>
                <a:latin typeface="Microsoft YaHei"/>
              </a:rPr>
              <a:t>• 由软通内部统一调度，不增加 AZ 逐人管理成本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82587" y="3944408"/>
            <a:ext cx="948242" cy="728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51A22"/>
                </a:solidFill>
                <a:latin typeface="Microsoft YaHei"/>
              </a:rPr>
              <a:t>AI 共享 交付层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642492" y="4083446"/>
            <a:ext cx="1248405" cy="119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51A22"/>
                </a:solidFill>
                <a:latin typeface="Microsoft YaHei"/>
              </a:rPr>
              <a:t>AI Requirement Services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560508" y="4071408"/>
            <a:ext cx="270926" cy="143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4D61D5"/>
                </a:solidFill>
                <a:latin typeface="Microsoft YaHei"/>
              </a:rPr>
              <a:t>共享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769489" y="4240741"/>
            <a:ext cx="3061946" cy="106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4A5260"/>
                </a:solidFill>
                <a:latin typeface="Microsoft YaHei"/>
              </a:rPr>
              <a:t>• Spec 生成、影响分析、知识召回与需求澄清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769489" y="4347368"/>
            <a:ext cx="3061946" cy="106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4A5260"/>
                </a:solidFill>
                <a:latin typeface="Microsoft YaHei"/>
              </a:rPr>
              <a:t>• 提升需求质量与澄清效率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017697" y="4083446"/>
            <a:ext cx="1201575" cy="119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51A22"/>
                </a:solidFill>
                <a:latin typeface="Microsoft YaHei"/>
              </a:rPr>
              <a:t>AI Engineering Services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935846" y="4071408"/>
            <a:ext cx="270926" cy="143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4D61D5"/>
                </a:solidFill>
                <a:latin typeface="Microsoft YaHei"/>
              </a:rPr>
              <a:t>共享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144694" y="4240741"/>
            <a:ext cx="3062078" cy="106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4A5260"/>
                </a:solidFill>
                <a:latin typeface="Microsoft YaHei"/>
              </a:rPr>
              <a:t>• AI Coding、测试生成、Code Review、安全扫描与评测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144694" y="4347368"/>
            <a:ext cx="3062078" cy="106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4A5260"/>
                </a:solidFill>
                <a:latin typeface="Microsoft YaHei"/>
              </a:rPr>
              <a:t>• 进入 OneTeam 的开发、测试与发布流程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393034" y="4083446"/>
            <a:ext cx="1495784" cy="119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51A22"/>
                </a:solidFill>
                <a:latin typeface="Microsoft YaHei"/>
              </a:rPr>
              <a:t>Delivery Intelligence Services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1311051" y="4071408"/>
            <a:ext cx="270926" cy="143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4D61D5"/>
                </a:solidFill>
                <a:latin typeface="Microsoft YaHei"/>
              </a:rPr>
              <a:t>共享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520031" y="4240741"/>
            <a:ext cx="3061946" cy="106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4A5260"/>
                </a:solidFill>
                <a:latin typeface="Microsoft YaHei"/>
              </a:rPr>
              <a:t>• 风险预测、知识捕获、发布智能与工程度量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520031" y="4347368"/>
            <a:ext cx="3061946" cy="106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4A5260"/>
                </a:solidFill>
                <a:latin typeface="Microsoft YaHei"/>
              </a:rPr>
              <a:t>• 支撑持续优化和证据化治理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82587" y="4714875"/>
            <a:ext cx="948242" cy="7281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51A22"/>
                </a:solidFill>
                <a:latin typeface="Microsoft YaHei"/>
              </a:rPr>
              <a:t>统一治理 接口层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642492" y="4853913"/>
            <a:ext cx="507987" cy="119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51A22"/>
                </a:solidFill>
                <a:latin typeface="Microsoft YaHei"/>
              </a:rPr>
              <a:t>统一工具链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560508" y="4841875"/>
            <a:ext cx="270926" cy="143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4D61D5"/>
                </a:solidFill>
                <a:latin typeface="Microsoft YaHei"/>
              </a:rPr>
              <a:t>治理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769489" y="5011208"/>
            <a:ext cx="3061946" cy="106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4A5260"/>
                </a:solidFill>
                <a:latin typeface="Microsoft YaHei"/>
              </a:rPr>
              <a:t>• Jira、Repo、CI/CD、ADR 与 Knowledge Base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769489" y="5117835"/>
            <a:ext cx="3061946" cy="106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4A5260"/>
                </a:solidFill>
                <a:latin typeface="Microsoft YaHei"/>
              </a:rPr>
              <a:t>• 统一任务、代码、决策与知识记录方式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017697" y="4853913"/>
            <a:ext cx="507987" cy="119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51A22"/>
                </a:solidFill>
                <a:latin typeface="Microsoft YaHei"/>
              </a:rPr>
              <a:t>统一控制点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935846" y="4841875"/>
            <a:ext cx="270926" cy="143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4D61D5"/>
                </a:solidFill>
                <a:latin typeface="Microsoft YaHei"/>
              </a:rPr>
              <a:t>治理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144694" y="5011208"/>
            <a:ext cx="3062078" cy="106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4A5260"/>
                </a:solidFill>
                <a:latin typeface="Microsoft YaHei"/>
              </a:rPr>
              <a:t>• Quality Gates、Security Controls、AI Usage Audit、SLA/SLO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144694" y="5117835"/>
            <a:ext cx="3062078" cy="106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4A5260"/>
                </a:solidFill>
                <a:latin typeface="Microsoft YaHei"/>
              </a:rPr>
              <a:t>• 把质量、安全和 AI 使用纳入一致的控制框架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393034" y="4853913"/>
            <a:ext cx="609584" cy="119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51A22"/>
                </a:solidFill>
                <a:latin typeface="Microsoft YaHei"/>
              </a:rPr>
              <a:t>统一经营看板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1311051" y="4841875"/>
            <a:ext cx="270926" cy="143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4D61D5"/>
                </a:solidFill>
                <a:latin typeface="Microsoft YaHei"/>
              </a:rPr>
              <a:t>治理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520031" y="5011208"/>
            <a:ext cx="3061946" cy="106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4A5260"/>
                </a:solidFill>
                <a:latin typeface="Microsoft YaHei"/>
              </a:rPr>
              <a:t>• Capacity、Cost、Risk、Quality 与 Partner Scorecard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520031" y="5117835"/>
            <a:ext cx="3061946" cy="106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4A5260"/>
                </a:solidFill>
                <a:latin typeface="Microsoft YaHei"/>
              </a:rPr>
              <a:t>• 让 AZ 通过单一界面完成经营判断与绩效管理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669875" y="5578474"/>
            <a:ext cx="270926" cy="143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D80000"/>
                </a:solidFill>
                <a:latin typeface="Microsoft YaHei"/>
              </a:rPr>
              <a:t>底座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928599" y="5967941"/>
            <a:ext cx="270926" cy="143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4D61D5"/>
                </a:solidFill>
                <a:latin typeface="Microsoft YaHei"/>
              </a:rPr>
              <a:t>基础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1267396" y="6468533"/>
            <a:ext cx="424777" cy="143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 i="0">
                <a:solidFill>
                  <a:srgbClr val="8B95A3"/>
                </a:solidFill>
                <a:latin typeface="Microsoft YaHei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82587" y="397933"/>
            <a:ext cx="67731" cy="558800"/>
          </a:xfrm>
          <a:prstGeom prst="ellipse">
            <a:avLst/>
          </a:prstGeom>
          <a:solidFill>
            <a:srgbClr val="D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82587" y="1582869"/>
            <a:ext cx="3918645" cy="794808"/>
          </a:xfrm>
          <a:prstGeom prst="roundRect">
            <a:avLst/>
          </a:prstGeom>
          <a:solidFill>
            <a:srgbClr val="F9F9F9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485898" y="1582869"/>
            <a:ext cx="2351293" cy="794808"/>
          </a:xfrm>
          <a:prstGeom prst="roundRect">
            <a:avLst/>
          </a:prstGeom>
          <a:solidFill>
            <a:srgbClr val="F9F9F9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21856" y="1582869"/>
            <a:ext cx="2351293" cy="794808"/>
          </a:xfrm>
          <a:prstGeom prst="roundRect">
            <a:avLst/>
          </a:prstGeom>
          <a:solidFill>
            <a:srgbClr val="F9F9F9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57813" y="1582869"/>
            <a:ext cx="2351293" cy="794808"/>
          </a:xfrm>
          <a:prstGeom prst="roundRect">
            <a:avLst/>
          </a:prstGeom>
          <a:solidFill>
            <a:srgbClr val="F9F9F9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2587" y="2479278"/>
            <a:ext cx="11226519" cy="2979208"/>
          </a:xfrm>
          <a:prstGeom prst="rect">
            <a:avLst/>
          </a:prstGeom>
          <a:noFill/>
          <a:ln w="95250">
            <a:solidFill>
              <a:srgbClr val="D02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989616" y="2648611"/>
            <a:ext cx="2379073" cy="422275"/>
          </a:xfrm>
          <a:prstGeom prst="roundRect">
            <a:avLst/>
          </a:prstGeom>
          <a:solidFill>
            <a:srgbClr val="D12B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36422" y="2648611"/>
            <a:ext cx="2379073" cy="422275"/>
          </a:xfrm>
          <a:prstGeom prst="roundRect">
            <a:avLst/>
          </a:prstGeom>
          <a:solidFill>
            <a:srgbClr val="D84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83227" y="2648611"/>
            <a:ext cx="2379073" cy="422275"/>
          </a:xfrm>
          <a:prstGeom prst="roundRect">
            <a:avLst/>
          </a:prstGeom>
          <a:solidFill>
            <a:srgbClr val="E57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30033" y="2648611"/>
            <a:ext cx="2379073" cy="422275"/>
          </a:xfrm>
          <a:prstGeom prst="roundRect">
            <a:avLst/>
          </a:prstGeom>
          <a:solidFill>
            <a:srgbClr val="ECA2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82587" y="3138619"/>
            <a:ext cx="1439297" cy="728133"/>
          </a:xfrm>
          <a:prstGeom prst="roundRect">
            <a:avLst/>
          </a:prstGeom>
          <a:solidFill>
            <a:srgbClr val="CB2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989616" y="3138619"/>
            <a:ext cx="2379073" cy="728133"/>
          </a:xfrm>
          <a:prstGeom prst="roundRect">
            <a:avLst/>
          </a:prstGeom>
          <a:solidFill>
            <a:srgbClr val="FBF7F6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082747" y="3248686"/>
            <a:ext cx="423322" cy="186266"/>
          </a:xfrm>
          <a:prstGeom prst="ellipse">
            <a:avLst/>
          </a:prstGeom>
          <a:solidFill>
            <a:srgbClr val="D62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6422" y="3138619"/>
            <a:ext cx="2379073" cy="728133"/>
          </a:xfrm>
          <a:prstGeom prst="roundRect">
            <a:avLst/>
          </a:prstGeom>
          <a:solidFill>
            <a:srgbClr val="FBF7F6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29553" y="3248686"/>
            <a:ext cx="423322" cy="186266"/>
          </a:xfrm>
          <a:prstGeom prst="ellipse">
            <a:avLst/>
          </a:prstGeom>
          <a:solidFill>
            <a:srgbClr val="D84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83227" y="3138619"/>
            <a:ext cx="2379073" cy="728133"/>
          </a:xfrm>
          <a:prstGeom prst="roundRect">
            <a:avLst/>
          </a:prstGeom>
          <a:solidFill>
            <a:srgbClr val="FBF7F6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976358" y="3248686"/>
            <a:ext cx="423322" cy="186266"/>
          </a:xfrm>
          <a:prstGeom prst="ellipse">
            <a:avLst/>
          </a:prstGeom>
          <a:solidFill>
            <a:srgbClr val="E57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330033" y="3138619"/>
            <a:ext cx="2379073" cy="728133"/>
          </a:xfrm>
          <a:prstGeom prst="roundRect">
            <a:avLst/>
          </a:prstGeom>
          <a:solidFill>
            <a:srgbClr val="FBF7F6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423164" y="3248686"/>
            <a:ext cx="423322" cy="186266"/>
          </a:xfrm>
          <a:prstGeom prst="ellipse">
            <a:avLst/>
          </a:prstGeom>
          <a:solidFill>
            <a:srgbClr val="ECA2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82587" y="3934486"/>
            <a:ext cx="1439297" cy="728133"/>
          </a:xfrm>
          <a:prstGeom prst="roundRect">
            <a:avLst/>
          </a:prstGeom>
          <a:solidFill>
            <a:srgbClr val="CB2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989616" y="3934486"/>
            <a:ext cx="2379073" cy="728133"/>
          </a:xfrm>
          <a:prstGeom prst="roundRect">
            <a:avLst/>
          </a:prstGeom>
          <a:solidFill>
            <a:srgbClr val="FBF7F6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082747" y="4044553"/>
            <a:ext cx="507987" cy="186266"/>
          </a:xfrm>
          <a:prstGeom prst="ellipse">
            <a:avLst/>
          </a:prstGeom>
          <a:solidFill>
            <a:srgbClr val="D62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436422" y="3934486"/>
            <a:ext cx="2379073" cy="728133"/>
          </a:xfrm>
          <a:prstGeom prst="roundRect">
            <a:avLst/>
          </a:prstGeom>
          <a:solidFill>
            <a:srgbClr val="FBF7F6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29553" y="4044553"/>
            <a:ext cx="592651" cy="186266"/>
          </a:xfrm>
          <a:prstGeom prst="ellipse">
            <a:avLst/>
          </a:prstGeom>
          <a:solidFill>
            <a:srgbClr val="D84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83227" y="3934486"/>
            <a:ext cx="2379073" cy="728133"/>
          </a:xfrm>
          <a:prstGeom prst="roundRect">
            <a:avLst/>
          </a:prstGeom>
          <a:solidFill>
            <a:srgbClr val="FBF7F6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976358" y="4044553"/>
            <a:ext cx="507987" cy="186266"/>
          </a:xfrm>
          <a:prstGeom prst="ellipse">
            <a:avLst/>
          </a:prstGeom>
          <a:solidFill>
            <a:srgbClr val="E57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330033" y="3934486"/>
            <a:ext cx="2379073" cy="728133"/>
          </a:xfrm>
          <a:prstGeom prst="roundRect">
            <a:avLst/>
          </a:prstGeom>
          <a:solidFill>
            <a:srgbClr val="FBF7F6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23164" y="4044553"/>
            <a:ext cx="507987" cy="186266"/>
          </a:xfrm>
          <a:prstGeom prst="ellipse">
            <a:avLst/>
          </a:prstGeom>
          <a:solidFill>
            <a:srgbClr val="ECA2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82587" y="4730353"/>
            <a:ext cx="1439297" cy="728133"/>
          </a:xfrm>
          <a:prstGeom prst="roundRect">
            <a:avLst/>
          </a:prstGeom>
          <a:solidFill>
            <a:srgbClr val="CB2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989616" y="4730353"/>
            <a:ext cx="2379073" cy="728133"/>
          </a:xfrm>
          <a:prstGeom prst="roundRect">
            <a:avLst/>
          </a:prstGeom>
          <a:solidFill>
            <a:srgbClr val="FBF7F6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082747" y="4840419"/>
            <a:ext cx="598472" cy="186266"/>
          </a:xfrm>
          <a:prstGeom prst="ellipse">
            <a:avLst/>
          </a:prstGeom>
          <a:solidFill>
            <a:srgbClr val="D62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436422" y="4730353"/>
            <a:ext cx="2379073" cy="728133"/>
          </a:xfrm>
          <a:prstGeom prst="roundRect">
            <a:avLst/>
          </a:prstGeom>
          <a:solidFill>
            <a:srgbClr val="FBF7F6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529553" y="4840419"/>
            <a:ext cx="425968" cy="186266"/>
          </a:xfrm>
          <a:prstGeom prst="ellipse">
            <a:avLst/>
          </a:prstGeom>
          <a:solidFill>
            <a:srgbClr val="D84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883227" y="4730353"/>
            <a:ext cx="2379073" cy="728133"/>
          </a:xfrm>
          <a:prstGeom prst="roundRect">
            <a:avLst/>
          </a:prstGeom>
          <a:solidFill>
            <a:srgbClr val="FBF7F6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976358" y="4840419"/>
            <a:ext cx="507987" cy="186266"/>
          </a:xfrm>
          <a:prstGeom prst="ellipse">
            <a:avLst/>
          </a:prstGeom>
          <a:solidFill>
            <a:srgbClr val="E57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30033" y="4730353"/>
            <a:ext cx="2379073" cy="728133"/>
          </a:xfrm>
          <a:prstGeom prst="roundRect">
            <a:avLst/>
          </a:prstGeom>
          <a:solidFill>
            <a:srgbClr val="FBF7F6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423164" y="4840419"/>
            <a:ext cx="592651" cy="186266"/>
          </a:xfrm>
          <a:prstGeom prst="ellipse">
            <a:avLst/>
          </a:prstGeom>
          <a:solidFill>
            <a:srgbClr val="ECA2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31763" y="414866"/>
            <a:ext cx="67731" cy="313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D80000"/>
                </a:solidFill>
                <a:latin typeface="Microsoft YaHei"/>
              </a:rPr>
              <a:t>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43931" y="486833"/>
            <a:ext cx="948242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 i="0">
                <a:solidFill>
                  <a:srgbClr val="BE2A1D"/>
                </a:solidFill>
                <a:latin typeface="Microsoft YaHei"/>
              </a:rPr>
              <a:t>数字转型新动力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2715" y="484319"/>
            <a:ext cx="3688067" cy="386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0242A"/>
                </a:solidFill>
                <a:latin typeface="Microsoft YaHei"/>
              </a:rPr>
              <a:t>交付组织与系统责任设计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2587" y="1075266"/>
            <a:ext cx="9990416" cy="2620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222832"/>
                </a:solidFill>
                <a:latin typeface="Microsoft YaHei"/>
              </a:rPr>
              <a:t>OneTeam 交付组织以 Product Pod 为核心交付单元，并通过稳定团队机制与系统责任映射，确保核心系统长期承接与持续优化。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517" y="1709869"/>
            <a:ext cx="3630786" cy="175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C12517"/>
                </a:solidFill>
                <a:latin typeface="Microsoft YaHei"/>
              </a:rPr>
              <a:t>OneTeam 组织主线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517" y="1935823"/>
            <a:ext cx="3630786" cy="3148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313B47"/>
                </a:solidFill>
                <a:latin typeface="Microsoft YaHei"/>
              </a:rPr>
              <a:t>以 Product Pod 作为长期承接单元，每个 Pod 对系统 Backlog、知识沉淀、持续交付与 AI 融合结果负责，并由稳定团队机制降低替换风险。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9029" y="1692936"/>
            <a:ext cx="2165031" cy="241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 i="0">
                <a:solidFill>
                  <a:srgbClr val="C22518"/>
                </a:solidFill>
                <a:latin typeface="Microsoft YaHei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9029" y="1985433"/>
            <a:ext cx="2165031" cy="2532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25" b="1" i="0">
                <a:solidFill>
                  <a:srgbClr val="4E5867"/>
                </a:solidFill>
                <a:latin typeface="Microsoft YaHei"/>
              </a:rPr>
              <a:t>核心 Pod 长期承接系统责任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14987" y="1692936"/>
            <a:ext cx="2165031" cy="241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 i="0">
                <a:solidFill>
                  <a:srgbClr val="C22518"/>
                </a:solidFill>
                <a:latin typeface="Microsoft YaHei"/>
              </a:rPr>
              <a:t>7+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14987" y="1985433"/>
            <a:ext cx="2165031" cy="2532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25" b="1" i="0">
                <a:solidFill>
                  <a:srgbClr val="4E5867"/>
                </a:solidFill>
                <a:latin typeface="Microsoft YaHei"/>
              </a:rPr>
              <a:t>标准角色组合 覆盖产品到运维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50944" y="1692936"/>
            <a:ext cx="2165031" cy="241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 i="0">
                <a:solidFill>
                  <a:srgbClr val="C22518"/>
                </a:solidFill>
                <a:latin typeface="Microsoft YaHei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50944" y="1985433"/>
            <a:ext cx="2165031" cy="2532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25" b="1" i="0">
                <a:solidFill>
                  <a:srgbClr val="4E5867"/>
                </a:solidFill>
                <a:latin typeface="Microsoft YaHei"/>
              </a:rPr>
              <a:t>统一稳定机制 AB 角 / Shadow / SLA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989616" y="2648611"/>
            <a:ext cx="2379073" cy="422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75" b="1" i="0">
                <a:solidFill>
                  <a:srgbClr val="FFFFFF"/>
                </a:solidFill>
                <a:latin typeface="Microsoft YaHei"/>
              </a:rPr>
              <a:t>CRM &amp; Customer Engagement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36422" y="2648611"/>
            <a:ext cx="2379073" cy="422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75" b="1" i="0">
                <a:solidFill>
                  <a:srgbClr val="FFFFFF"/>
                </a:solidFill>
                <a:latin typeface="Microsoft YaHei"/>
              </a:rPr>
              <a:t>Data &amp; Insight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83227" y="2648611"/>
            <a:ext cx="2379073" cy="422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75" b="1" i="0">
                <a:solidFill>
                  <a:srgbClr val="FFFFFF"/>
                </a:solidFill>
                <a:latin typeface="Microsoft YaHei"/>
              </a:rPr>
              <a:t>Customer Platform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30033" y="2648611"/>
            <a:ext cx="2379073" cy="422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75" b="1" i="0">
                <a:solidFill>
                  <a:srgbClr val="FFFFFF"/>
                </a:solidFill>
                <a:latin typeface="Microsoft YaHei"/>
              </a:rPr>
              <a:t>Integration &amp; Experience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2587" y="3138619"/>
            <a:ext cx="1439297" cy="7281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icrosoft YaHei"/>
              </a:rPr>
              <a:t>主责系统域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82747" y="3248686"/>
            <a:ext cx="423322" cy="18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Microsoft YaHei"/>
              </a:rPr>
              <a:t>客户域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82747" y="3485753"/>
            <a:ext cx="2192811" cy="2402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303946"/>
                </a:solidFill>
                <a:latin typeface="Microsoft YaHei"/>
              </a:rPr>
              <a:t>NCEP、HCP360、AZ Connect 等核心客户系统持续交付。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29553" y="3248686"/>
            <a:ext cx="423322" cy="18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Microsoft YaHei"/>
              </a:rPr>
              <a:t>数据域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29553" y="3485753"/>
            <a:ext cx="2192811" cy="12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303946"/>
                </a:solidFill>
                <a:latin typeface="Microsoft YaHei"/>
              </a:rPr>
              <a:t>Power Insight、CDP、报告中心与 BI 能力域结果负责。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76358" y="3248686"/>
            <a:ext cx="423322" cy="18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Microsoft YaHei"/>
              </a:rPr>
              <a:t>平台域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76358" y="3485753"/>
            <a:ext cx="2192811" cy="12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303946"/>
                </a:solidFill>
                <a:latin typeface="Microsoft YaHei"/>
              </a:rPr>
              <a:t>HCP Portal、Workmate 与前台体验平台运营协同。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423164" y="3248686"/>
            <a:ext cx="423322" cy="18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Microsoft YaHei"/>
              </a:rPr>
              <a:t>集成域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23164" y="3485753"/>
            <a:ext cx="2192811" cy="12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303946"/>
                </a:solidFill>
                <a:latin typeface="Microsoft YaHei"/>
              </a:rPr>
              <a:t>跨系统流程、API、消息和体验集成能力承接。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2587" y="3934486"/>
            <a:ext cx="1439297" cy="7281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icrosoft YaHei"/>
              </a:rPr>
              <a:t>核心责任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82747" y="4044553"/>
            <a:ext cx="507987" cy="18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Microsoft YaHei"/>
              </a:rPr>
              <a:t>持续交付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82747" y="4281619"/>
            <a:ext cx="2192811" cy="12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303946"/>
                </a:solidFill>
                <a:latin typeface="Microsoft YaHei"/>
              </a:rPr>
              <a:t>围绕客户域需求、运营与缺陷处理形成长期结果责任。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29553" y="4044553"/>
            <a:ext cx="592651" cy="18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Microsoft YaHei"/>
              </a:rPr>
              <a:t>产品与洞察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29553" y="4281619"/>
            <a:ext cx="2192811" cy="12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303946"/>
                </a:solidFill>
                <a:latin typeface="Microsoft YaHei"/>
              </a:rPr>
              <a:t>承接数据产品建设、分析服务和 BI 质量结果。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76358" y="4044553"/>
            <a:ext cx="507987" cy="18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Microsoft YaHei"/>
              </a:rPr>
              <a:t>体验运营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76358" y="4281619"/>
            <a:ext cx="2192811" cy="12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303946"/>
                </a:solidFill>
                <a:latin typeface="Microsoft YaHei"/>
              </a:rPr>
              <a:t>负责门户体验、业务流程协同和前台数字化运营。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423164" y="4044553"/>
            <a:ext cx="507987" cy="18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Microsoft YaHei"/>
              </a:rPr>
              <a:t>流程贯通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423164" y="4281619"/>
            <a:ext cx="2192811" cy="12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303946"/>
                </a:solidFill>
                <a:latin typeface="Microsoft YaHei"/>
              </a:rPr>
              <a:t>减少边界摩擦，保障跨系统链路和交付协同顺畅。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82587" y="4730353"/>
            <a:ext cx="1439297" cy="7281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icrosoft YaHei"/>
              </a:rPr>
              <a:t>AI 融合方向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82747" y="4840419"/>
            <a:ext cx="598472" cy="18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Microsoft YaHei"/>
              </a:rPr>
              <a:t>推荐 / 助手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82747" y="5077486"/>
            <a:ext cx="2192811" cy="12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303946"/>
                </a:solidFill>
                <a:latin typeface="Microsoft YaHei"/>
              </a:rPr>
              <a:t>智能推荐、知识助手、自动测试进入客户域交付流程。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29553" y="4840419"/>
            <a:ext cx="425968" cy="18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Microsoft YaHei"/>
              </a:rPr>
              <a:t>NL2BI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29553" y="5077486"/>
            <a:ext cx="2192811" cy="12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303946"/>
                </a:solidFill>
                <a:latin typeface="Microsoft YaHei"/>
              </a:rPr>
              <a:t>智能分群、关系洞察、洞察生成支撑数据场景落地。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976358" y="4840419"/>
            <a:ext cx="507987" cy="18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Microsoft YaHei"/>
              </a:rPr>
              <a:t>运营助手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976358" y="5077486"/>
            <a:ext cx="2192811" cy="12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303946"/>
                </a:solidFill>
                <a:latin typeface="Microsoft YaHei"/>
              </a:rPr>
              <a:t>面向前台平台提供交互优化、内容生成和流程辅助能力。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423164" y="4840419"/>
            <a:ext cx="592651" cy="18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Microsoft YaHei"/>
              </a:rPr>
              <a:t>治理自动化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423164" y="5077486"/>
            <a:ext cx="2192811" cy="12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303946"/>
                </a:solidFill>
                <a:latin typeface="Microsoft YaHei"/>
              </a:rPr>
              <a:t>AI 辅助治理、自动报告、异常解释和接口协同增强。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267396" y="6468533"/>
            <a:ext cx="424777" cy="143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 i="0">
                <a:solidFill>
                  <a:srgbClr val="8B95A3"/>
                </a:solidFill>
                <a:latin typeface="Microsoft YaHei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82587" y="397933"/>
            <a:ext cx="67731" cy="558800"/>
          </a:xfrm>
          <a:prstGeom prst="ellipse">
            <a:avLst/>
          </a:prstGeom>
          <a:solidFill>
            <a:srgbClr val="D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2587" y="2098939"/>
            <a:ext cx="2717732" cy="3556000"/>
          </a:xfrm>
          <a:prstGeom prst="rect">
            <a:avLst/>
          </a:prstGeom>
          <a:solidFill>
            <a:srgbClr val="FFFBFA"/>
          </a:solidFill>
          <a:ln w="9525">
            <a:solidFill>
              <a:srgbClr val="D58D84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0639" y="2225939"/>
            <a:ext cx="1481629" cy="279400"/>
          </a:xfrm>
          <a:prstGeom prst="ellipse">
            <a:avLst/>
          </a:prstGeom>
          <a:solidFill>
            <a:srgbClr val="D92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318850" y="2098939"/>
            <a:ext cx="2717732" cy="3556000"/>
          </a:xfrm>
          <a:prstGeom prst="rect">
            <a:avLst/>
          </a:prstGeom>
          <a:solidFill>
            <a:srgbClr val="FFFBFA"/>
          </a:solidFill>
          <a:ln w="9525">
            <a:solidFill>
              <a:srgbClr val="D58D84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936901" y="2225939"/>
            <a:ext cx="1481629" cy="279400"/>
          </a:xfrm>
          <a:prstGeom prst="ellipse">
            <a:avLst/>
          </a:prstGeom>
          <a:solidFill>
            <a:srgbClr val="D95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55112" y="2098939"/>
            <a:ext cx="2717732" cy="3556000"/>
          </a:xfrm>
          <a:prstGeom prst="rect">
            <a:avLst/>
          </a:prstGeom>
          <a:solidFill>
            <a:srgbClr val="FFFBFA"/>
          </a:solidFill>
          <a:ln w="9525">
            <a:solidFill>
              <a:srgbClr val="D58D84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773164" y="2225939"/>
            <a:ext cx="1481629" cy="279400"/>
          </a:xfrm>
          <a:prstGeom prst="ellipse">
            <a:avLst/>
          </a:prstGeom>
          <a:solidFill>
            <a:srgbClr val="EB7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91375" y="2098939"/>
            <a:ext cx="2717732" cy="3556000"/>
          </a:xfrm>
          <a:prstGeom prst="rect">
            <a:avLst/>
          </a:prstGeom>
          <a:solidFill>
            <a:srgbClr val="FFFBFA"/>
          </a:solidFill>
          <a:ln w="9525">
            <a:solidFill>
              <a:srgbClr val="D58D84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9426" y="2225939"/>
            <a:ext cx="1481629" cy="279400"/>
          </a:xfrm>
          <a:prstGeom prst="ellipse">
            <a:avLst/>
          </a:prstGeom>
          <a:solidFill>
            <a:srgbClr val="ECA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2587" y="5790406"/>
            <a:ext cx="2806629" cy="372533"/>
          </a:xfrm>
          <a:prstGeom prst="rect">
            <a:avLst/>
          </a:prstGeom>
          <a:solidFill>
            <a:srgbClr val="CA2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89217" y="5790406"/>
            <a:ext cx="2806629" cy="372533"/>
          </a:xfrm>
          <a:prstGeom prst="rect">
            <a:avLst/>
          </a:prstGeom>
          <a:solidFill>
            <a:srgbClr val="D74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95847" y="5790406"/>
            <a:ext cx="2806629" cy="372533"/>
          </a:xfrm>
          <a:prstGeom prst="rect">
            <a:avLst/>
          </a:prstGeom>
          <a:solidFill>
            <a:srgbClr val="E06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02477" y="5790406"/>
            <a:ext cx="2806629" cy="372533"/>
          </a:xfrm>
          <a:prstGeom prst="rect">
            <a:avLst/>
          </a:prstGeom>
          <a:solidFill>
            <a:srgbClr val="EA9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31763" y="414866"/>
            <a:ext cx="67731" cy="313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D80000"/>
                </a:solidFill>
                <a:latin typeface="Microsoft YaHei"/>
              </a:rPr>
              <a:t>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43931" y="486833"/>
            <a:ext cx="948242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 i="0">
                <a:solidFill>
                  <a:srgbClr val="BE2A1D"/>
                </a:solidFill>
                <a:latin typeface="Microsoft YaHei"/>
              </a:rPr>
              <a:t>数字转型新动力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2715" y="484319"/>
            <a:ext cx="3017497" cy="386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0242A"/>
                </a:solidFill>
                <a:latin typeface="Microsoft YaHei"/>
              </a:rPr>
              <a:t>实施机制与阶段路径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587" y="1075266"/>
            <a:ext cx="7873803" cy="5241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222832"/>
                </a:solidFill>
                <a:latin typeface="Microsoft YaHei"/>
              </a:rPr>
              <a:t>实施路径围绕核心系统责任承接、治理底座搭建、AI 快速收益验证与 CKP 专项深化四个阶段展开，形成分阶段落地与持续优化机制。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639" y="2225939"/>
            <a:ext cx="1481629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 i="0">
                <a:solidFill>
                  <a:srgbClr val="FFFFFF"/>
                </a:solidFill>
                <a:latin typeface="Microsoft YaHei"/>
              </a:rPr>
              <a:t>第一阶段：试点启动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0271" y="2623872"/>
            <a:ext cx="1422364" cy="272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 i="0">
                <a:solidFill>
                  <a:srgbClr val="B32518"/>
                </a:solidFill>
                <a:latin typeface="Microsoft YaHei"/>
              </a:rPr>
              <a:t>完成责任承接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8913" y="3014927"/>
            <a:ext cx="2294409" cy="359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7" b="0" i="0">
                <a:solidFill>
                  <a:srgbClr val="2D3743"/>
                </a:solidFill>
                <a:latin typeface="Microsoft YaHei"/>
              </a:rPr>
              <a:t>• 以 OneTeam 试点 Pod 启动 transition，明确系统责任边界、RACI 与交接节奏。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8913" y="3459427"/>
            <a:ext cx="2294409" cy="359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7" b="0" i="0">
                <a:solidFill>
                  <a:srgbClr val="2D3743"/>
                </a:solidFill>
                <a:latin typeface="Microsoft YaHei"/>
              </a:rPr>
              <a:t>• 同步建立统一工具链、基础质量门禁、安全规则与经营看板基线。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8913" y="3903927"/>
            <a:ext cx="2294409" cy="359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7" b="0" i="0">
                <a:solidFill>
                  <a:srgbClr val="2D3743"/>
                </a:solidFill>
                <a:latin typeface="Microsoft YaHei"/>
              </a:rPr>
              <a:t>• 完成首批 AI 快赢用例识别与 CKP POC 范围确认。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6901" y="2225939"/>
            <a:ext cx="1481629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 i="0">
                <a:solidFill>
                  <a:srgbClr val="FFFFFF"/>
                </a:solidFill>
                <a:latin typeface="Microsoft YaHei"/>
              </a:rPr>
              <a:t>第二阶段：规模扩展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66534" y="2623872"/>
            <a:ext cx="1422364" cy="272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 i="0">
                <a:solidFill>
                  <a:srgbClr val="B32518"/>
                </a:solidFill>
                <a:latin typeface="Microsoft YaHei"/>
              </a:rPr>
              <a:t>建立运行机制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5176" y="3014927"/>
            <a:ext cx="2294409" cy="359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7" b="0" i="0">
                <a:solidFill>
                  <a:srgbClr val="2D3743"/>
                </a:solidFill>
                <a:latin typeface="Microsoft YaHei"/>
              </a:rPr>
              <a:t>• 把试点经验扩展到关键系统域，形成稳定团队与替补机制。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5176" y="3459427"/>
            <a:ext cx="2294409" cy="359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7" b="0" i="0">
                <a:solidFill>
                  <a:srgbClr val="2D3743"/>
                </a:solidFill>
                <a:latin typeface="Microsoft YaHei"/>
              </a:rPr>
              <a:t>• 运行资源认证、共享专家调度与治理看板，建立周期性经营视图。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5176" y="3903927"/>
            <a:ext cx="2294409" cy="359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7" b="0" i="0">
                <a:solidFill>
                  <a:srgbClr val="2D3743"/>
                </a:solidFill>
                <a:latin typeface="Microsoft YaHei"/>
              </a:rPr>
              <a:t>• 固化需求、开发、测试和发布环节的 AI 使用边界与审批流程。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73164" y="2225939"/>
            <a:ext cx="1481629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 i="0">
                <a:solidFill>
                  <a:srgbClr val="FFFFFF"/>
                </a:solidFill>
                <a:latin typeface="Microsoft YaHei"/>
              </a:rPr>
              <a:t>第三阶段：专项落地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46177" y="2623872"/>
            <a:ext cx="1535470" cy="272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 i="0">
                <a:solidFill>
                  <a:srgbClr val="B32518"/>
                </a:solidFill>
                <a:latin typeface="Microsoft YaHei"/>
              </a:rPr>
              <a:t>深化 AI / CKP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51438" y="3014927"/>
            <a:ext cx="2294409" cy="359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7" b="0" i="0">
                <a:solidFill>
                  <a:srgbClr val="2D3743"/>
                </a:solidFill>
                <a:latin typeface="Microsoft YaHei"/>
              </a:rPr>
              <a:t>• 让 AI Engineering 进入主流程，形成需求澄清、代码生成、测试生成和风险预测能力。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51438" y="3459427"/>
            <a:ext cx="2294409" cy="359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7" b="0" i="0">
                <a:solidFill>
                  <a:srgbClr val="2D3743"/>
                </a:solidFill>
                <a:latin typeface="Microsoft YaHei"/>
              </a:rPr>
              <a:t>• 推动 CKP 从 POC 走向生产机制，建立版本控制、增量处理与评测回滚。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1438" y="3903927"/>
            <a:ext cx="2294409" cy="359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7" b="0" i="0">
                <a:solidFill>
                  <a:srgbClr val="2D3743"/>
                </a:solidFill>
                <a:latin typeface="Microsoft YaHei"/>
              </a:rPr>
              <a:t>• 对专项建设结果形成可量化的阶段评估与经营复盘。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9426" y="2225939"/>
            <a:ext cx="1481629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 i="0">
                <a:solidFill>
                  <a:srgbClr val="FFFFFF"/>
                </a:solidFill>
                <a:latin typeface="Microsoft YaHei"/>
              </a:rPr>
              <a:t>第四阶段：闭环运营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39059" y="2623872"/>
            <a:ext cx="1422364" cy="272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 i="0">
                <a:solidFill>
                  <a:srgbClr val="B32518"/>
                </a:solidFill>
                <a:latin typeface="Microsoft YaHei"/>
              </a:rPr>
              <a:t>持续优化运营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7701" y="3014927"/>
            <a:ext cx="2294409" cy="359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7" b="0" i="0">
                <a:solidFill>
                  <a:srgbClr val="2D3743"/>
                </a:solidFill>
                <a:latin typeface="Microsoft YaHei"/>
              </a:rPr>
              <a:t>• 形成容量优化、风险预测、知识沉淀和持续改进的运营闭环。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7701" y="3459427"/>
            <a:ext cx="2294409" cy="359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7" b="0" i="0">
                <a:solidFill>
                  <a:srgbClr val="2D3743"/>
                </a:solidFill>
                <a:latin typeface="Microsoft YaHei"/>
              </a:rPr>
              <a:t>• 基于统一经营看板持续优化人力结构、质量表现和专项产出。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7701" y="3903927"/>
            <a:ext cx="2294409" cy="359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37" b="0" i="0">
                <a:solidFill>
                  <a:srgbClr val="2D3743"/>
                </a:solidFill>
                <a:latin typeface="Microsoft YaHei"/>
              </a:rPr>
              <a:t>• 沉淀可复制的方法论，为后续系统域复制提供模板。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2587" y="5790406"/>
            <a:ext cx="2806629" cy="3725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</a:rPr>
              <a:t>V1.0（0-3 月）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89217" y="5790406"/>
            <a:ext cx="2806629" cy="3725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</a:rPr>
              <a:t>V1.1（4-6 月）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95847" y="5790406"/>
            <a:ext cx="2806629" cy="3725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</a:rPr>
              <a:t>V1.2（7-12 月）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02477" y="5790406"/>
            <a:ext cx="2806629" cy="3725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</a:rPr>
              <a:t>V2.0（13-18 月）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67396" y="6468533"/>
            <a:ext cx="424777" cy="143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 i="0">
                <a:solidFill>
                  <a:srgbClr val="8B95A3"/>
                </a:solidFill>
                <a:latin typeface="Microsoft YaHei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82587" y="397933"/>
            <a:ext cx="67731" cy="558800"/>
          </a:xfrm>
          <a:prstGeom prst="ellipse">
            <a:avLst/>
          </a:prstGeom>
          <a:solidFill>
            <a:srgbClr val="D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015016" y="1684469"/>
            <a:ext cx="778913" cy="262466"/>
          </a:xfrm>
          <a:prstGeom prst="ellipse">
            <a:avLst/>
          </a:prstGeom>
          <a:solidFill>
            <a:srgbClr val="D6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10703" y="2031603"/>
            <a:ext cx="2387540" cy="482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81385" y="2598869"/>
            <a:ext cx="1446176" cy="262466"/>
          </a:xfrm>
          <a:prstGeom prst="ellipse">
            <a:avLst/>
          </a:prstGeom>
          <a:solidFill>
            <a:srgbClr val="C91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10703" y="5181203"/>
            <a:ext cx="2387540" cy="536707"/>
          </a:xfrm>
          <a:prstGeom prst="rect">
            <a:avLst/>
          </a:prstGeom>
          <a:solidFill>
            <a:srgbClr val="FAFAFA"/>
          </a:solidFill>
          <a:ln w="9525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690416" y="1684469"/>
            <a:ext cx="778913" cy="262466"/>
          </a:xfrm>
          <a:prstGeom prst="ellipse">
            <a:avLst/>
          </a:prstGeom>
          <a:solidFill>
            <a:srgbClr val="D34F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86102" y="2031603"/>
            <a:ext cx="2387540" cy="482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91566" y="2598869"/>
            <a:ext cx="1576480" cy="262466"/>
          </a:xfrm>
          <a:prstGeom prst="ellipse">
            <a:avLst/>
          </a:prstGeom>
          <a:solidFill>
            <a:srgbClr val="CF4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86102" y="5181203"/>
            <a:ext cx="2387540" cy="536707"/>
          </a:xfrm>
          <a:prstGeom prst="rect">
            <a:avLst/>
          </a:prstGeom>
          <a:solidFill>
            <a:srgbClr val="FAFAFA"/>
          </a:solidFill>
          <a:ln w="9525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65815" y="1684469"/>
            <a:ext cx="778913" cy="262466"/>
          </a:xfrm>
          <a:prstGeom prst="ellipse">
            <a:avLst/>
          </a:prstGeom>
          <a:solidFill>
            <a:srgbClr val="E47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61502" y="2031603"/>
            <a:ext cx="2387540" cy="482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93963" y="2598869"/>
            <a:ext cx="1322619" cy="262466"/>
          </a:xfrm>
          <a:prstGeom prst="ellipse">
            <a:avLst/>
          </a:prstGeom>
          <a:solidFill>
            <a:srgbClr val="E27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61502" y="5181203"/>
            <a:ext cx="2387540" cy="536707"/>
          </a:xfrm>
          <a:prstGeom prst="rect">
            <a:avLst/>
          </a:prstGeom>
          <a:solidFill>
            <a:srgbClr val="FAFAFA"/>
          </a:solidFill>
          <a:ln w="9525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41215" y="1684469"/>
            <a:ext cx="778913" cy="262466"/>
          </a:xfrm>
          <a:prstGeom prst="ellipse">
            <a:avLst/>
          </a:prstGeom>
          <a:solidFill>
            <a:srgbClr val="E6A2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236902" y="2031603"/>
            <a:ext cx="2387540" cy="482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588524" y="2598869"/>
            <a:ext cx="1684163" cy="262466"/>
          </a:xfrm>
          <a:prstGeom prst="ellipse">
            <a:avLst/>
          </a:prstGeom>
          <a:solidFill>
            <a:srgbClr val="E3A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36902" y="5181203"/>
            <a:ext cx="2387540" cy="536707"/>
          </a:xfrm>
          <a:prstGeom prst="rect">
            <a:avLst/>
          </a:prstGeom>
          <a:solidFill>
            <a:srgbClr val="FAFAFA"/>
          </a:solidFill>
          <a:ln w="9525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31763" y="414866"/>
            <a:ext cx="67731" cy="313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D80000"/>
                </a:solidFill>
                <a:latin typeface="Microsoft YaHei"/>
              </a:rPr>
              <a:t>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43931" y="486833"/>
            <a:ext cx="948242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 i="0">
                <a:solidFill>
                  <a:srgbClr val="BE2A1D"/>
                </a:solidFill>
                <a:latin typeface="Microsoft YaHei"/>
              </a:rPr>
              <a:t>数字转型新动力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2715" y="484319"/>
            <a:ext cx="2011709" cy="386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0242A"/>
                </a:solidFill>
                <a:latin typeface="Microsoft YaHei"/>
              </a:rPr>
              <a:t>资源保障机制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587" y="1075266"/>
            <a:ext cx="9990416" cy="2620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222832"/>
                </a:solidFill>
                <a:latin typeface="Microsoft YaHei"/>
              </a:rPr>
              <a:t>资源保障机制由弹性能力供给、共享专家调度和补位闭环共同构成，确保 OneTeam 在不同阶段持续获得可控、可认证的能力支撑。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587" y="1834356"/>
            <a:ext cx="524920" cy="2420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50" b="1" i="0">
                <a:solidFill>
                  <a:srgbClr val="BF2B1D"/>
                </a:solidFill>
                <a:latin typeface="Microsoft YaHei"/>
              </a:rPr>
              <a:t>机制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587" y="2412603"/>
            <a:ext cx="524920" cy="4841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50" b="1" i="0">
                <a:solidFill>
                  <a:srgbClr val="BF2B1D"/>
                </a:solidFill>
                <a:latin typeface="Microsoft YaHei"/>
              </a:rPr>
              <a:t>执行 方式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587" y="3232943"/>
            <a:ext cx="524920" cy="2420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50" b="1" i="0">
                <a:solidFill>
                  <a:srgbClr val="BF2B1D"/>
                </a:solidFill>
                <a:latin typeface="Microsoft YaHei"/>
              </a:rPr>
              <a:t>指标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5016" y="1684469"/>
            <a:ext cx="778913" cy="262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75" b="1" i="0">
                <a:solidFill>
                  <a:srgbClr val="FFFFFF"/>
                </a:solidFill>
                <a:latin typeface="Microsoft YaHei"/>
              </a:rPr>
              <a:t>第一阶段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0703" y="2031603"/>
            <a:ext cx="238754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50" b="1" i="0">
                <a:solidFill>
                  <a:srgbClr val="B52519"/>
                </a:solidFill>
                <a:latin typeface="Microsoft YaHei"/>
              </a:rPr>
              <a:t>预测需求缺口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81385" y="2598869"/>
            <a:ext cx="1446176" cy="262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 i="0">
                <a:solidFill>
                  <a:srgbClr val="FFFFFF"/>
                </a:solidFill>
                <a:latin typeface="Microsoft YaHei"/>
              </a:rPr>
              <a:t>Demand Forecasting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63099" y="2962936"/>
            <a:ext cx="2235144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2D3642"/>
                </a:solidFill>
                <a:latin typeface="Microsoft YaHei"/>
              </a:rPr>
              <a:t>• 基于 Roadmap、工单走势和新技能需求预测系统域的容量缺口。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63099" y="3396853"/>
            <a:ext cx="2235144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2D3642"/>
                </a:solidFill>
                <a:latin typeface="Microsoft YaHei"/>
              </a:rPr>
              <a:t>• 提前识别高峰期、专项期和关键岗位风险，避免被动补位。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63099" y="3830769"/>
            <a:ext cx="2235144" cy="174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2D3642"/>
                </a:solidFill>
                <a:latin typeface="Microsoft YaHei"/>
              </a:rPr>
              <a:t>• 把预测结果转化为资源准备计划与专家调度清单。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03834" y="5274336"/>
            <a:ext cx="2201278" cy="18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C42418"/>
                </a:solidFill>
                <a:latin typeface="Microsoft YaHei"/>
              </a:rPr>
              <a:t>预测前置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03834" y="5494469"/>
            <a:ext cx="2201278" cy="130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25" b="0" i="0">
                <a:solidFill>
                  <a:srgbClr val="535C69"/>
                </a:solidFill>
                <a:latin typeface="Microsoft YaHei"/>
              </a:rPr>
              <a:t>关键系统容量需求提前识别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90416" y="1684469"/>
            <a:ext cx="778913" cy="262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75" b="1" i="0">
                <a:solidFill>
                  <a:srgbClr val="FFFFFF"/>
                </a:solidFill>
                <a:latin typeface="Microsoft YaHei"/>
              </a:rPr>
              <a:t>第二阶段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86102" y="2031603"/>
            <a:ext cx="238754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50" b="1" i="0">
                <a:solidFill>
                  <a:srgbClr val="B52519"/>
                </a:solidFill>
                <a:latin typeface="Microsoft YaHei"/>
              </a:rPr>
              <a:t>认证供给能力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1566" y="2598869"/>
            <a:ext cx="1576480" cy="262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 i="0">
                <a:solidFill>
                  <a:srgbClr val="FFFFFF"/>
                </a:solidFill>
                <a:latin typeface="Microsoft YaHei"/>
              </a:rPr>
              <a:t>Capability Certification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38499" y="2962936"/>
            <a:ext cx="2235144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2D3642"/>
                </a:solidFill>
                <a:latin typeface="Microsoft YaHei"/>
              </a:rPr>
              <a:t>• 按技术、场景、安全、AI 工具使用和英语协作能力进行统一认证。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38499" y="3396853"/>
            <a:ext cx="2235144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2D3642"/>
                </a:solidFill>
                <a:latin typeface="Microsoft YaHei"/>
              </a:rPr>
              <a:t>• 划分 Ready Now、Ready Soon 与 Build Pool 三类状态，建立可调用名单。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38499" y="3830769"/>
            <a:ext cx="2235144" cy="174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2D3642"/>
                </a:solidFill>
                <a:latin typeface="Microsoft YaHei"/>
              </a:rPr>
              <a:t>• 确保补充资源进入 AZ 交付前已完成标准化筛选。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79233" y="5274336"/>
            <a:ext cx="2201278" cy="18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C42418"/>
                </a:solidFill>
                <a:latin typeface="Microsoft YaHei"/>
              </a:rPr>
              <a:t>Ready 名单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79233" y="5494469"/>
            <a:ext cx="2201278" cy="130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25" b="0" i="0">
                <a:solidFill>
                  <a:srgbClr val="535C69"/>
                </a:solidFill>
                <a:latin typeface="Microsoft YaHei"/>
              </a:rPr>
              <a:t>形成可认证、可调度的能力池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65815" y="1684469"/>
            <a:ext cx="778913" cy="262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75" b="1" i="0">
                <a:solidFill>
                  <a:srgbClr val="FFFFFF"/>
                </a:solidFill>
                <a:latin typeface="Microsoft YaHei"/>
              </a:rPr>
              <a:t>第三阶段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61502" y="2031603"/>
            <a:ext cx="238754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50" b="1" i="0">
                <a:solidFill>
                  <a:srgbClr val="B52519"/>
                </a:solidFill>
                <a:latin typeface="Microsoft YaHei"/>
              </a:rPr>
              <a:t>快速融入交付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93963" y="2598869"/>
            <a:ext cx="1322619" cy="262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 i="0">
                <a:solidFill>
                  <a:srgbClr val="FFFFFF"/>
                </a:solidFill>
                <a:latin typeface="Microsoft YaHei"/>
              </a:rPr>
              <a:t>Rapid Onboarding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13898" y="2962936"/>
            <a:ext cx="2235144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2D3642"/>
                </a:solidFill>
                <a:latin typeface="Microsoft YaHei"/>
              </a:rPr>
              <a:t>• 通过 7-10 天融入包完成业务、架构、规范、安全与代码库接入。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13898" y="3396853"/>
            <a:ext cx="2235144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2D3642"/>
                </a:solidFill>
                <a:latin typeface="Microsoft YaHei"/>
              </a:rPr>
              <a:t>• 使用 Shadow Task 和 First Deliverable 缩短新成员进入有效产出的周期。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13898" y="3830769"/>
            <a:ext cx="2235144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2D3642"/>
                </a:solidFill>
                <a:latin typeface="Microsoft YaHei"/>
              </a:rPr>
              <a:t>• 保证补位成员能在不增加 AZ 管理负担的情况下进入 OneTeam。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54633" y="5274336"/>
            <a:ext cx="2201278" cy="18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C42418"/>
                </a:solidFill>
                <a:latin typeface="Microsoft YaHei"/>
              </a:rPr>
              <a:t>7-10 天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54633" y="5494469"/>
            <a:ext cx="2201278" cy="130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25" b="0" i="0">
                <a:solidFill>
                  <a:srgbClr val="535C69"/>
                </a:solidFill>
                <a:latin typeface="Microsoft YaHei"/>
              </a:rPr>
              <a:t>标准化融入周期与首个可交付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41215" y="1684469"/>
            <a:ext cx="778913" cy="262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75" b="1" i="0">
                <a:solidFill>
                  <a:srgbClr val="FFFFFF"/>
                </a:solidFill>
                <a:latin typeface="Microsoft YaHei"/>
              </a:rPr>
              <a:t>第四阶段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36902" y="2031603"/>
            <a:ext cx="238754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50" b="1" i="0">
                <a:solidFill>
                  <a:srgbClr val="B52519"/>
                </a:solidFill>
                <a:latin typeface="Microsoft YaHei"/>
              </a:rPr>
              <a:t>持续绩效回收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88524" y="2598869"/>
            <a:ext cx="1684163" cy="2624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 i="0">
                <a:solidFill>
                  <a:srgbClr val="FFFFFF"/>
                </a:solidFill>
                <a:latin typeface="Microsoft YaHei"/>
              </a:rPr>
              <a:t>Continuous Performance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89298" y="2962936"/>
            <a:ext cx="2235144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2D3642"/>
                </a:solidFill>
                <a:latin typeface="Microsoft YaHei"/>
              </a:rPr>
              <a:t>• 跟踪首周融入、30 天绩效、知识贡献与质量结果，持续回收供给效果。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89298" y="3396853"/>
            <a:ext cx="2235144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2D3642"/>
                </a:solidFill>
                <a:latin typeface="Microsoft YaHei"/>
              </a:rPr>
              <a:t>• 优秀成员沉淀为稳定 OneTeam 成员，形成正向能力回流。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89298" y="3830769"/>
            <a:ext cx="2235144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2D3642"/>
                </a:solidFill>
                <a:latin typeface="Microsoft YaHei"/>
              </a:rPr>
              <a:t>• 通过绩效回收持续优化能力池结构与专家调度策略。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30033" y="5274336"/>
            <a:ext cx="2201278" cy="18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C42418"/>
                </a:solidFill>
                <a:latin typeface="Microsoft YaHei"/>
              </a:rPr>
              <a:t>持续优化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30033" y="5494469"/>
            <a:ext cx="2201278" cy="130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25" b="0" i="0">
                <a:solidFill>
                  <a:srgbClr val="535C69"/>
                </a:solidFill>
                <a:latin typeface="Microsoft YaHei"/>
              </a:rPr>
              <a:t>供给结果进入绩效与资源复盘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267396" y="6468533"/>
            <a:ext cx="424777" cy="143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 i="0">
                <a:solidFill>
                  <a:srgbClr val="8B95A3"/>
                </a:solidFill>
                <a:latin typeface="Microsoft YaHei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82587" y="397933"/>
            <a:ext cx="67731" cy="558800"/>
          </a:xfrm>
          <a:prstGeom prst="ellipse">
            <a:avLst/>
          </a:prstGeom>
          <a:solidFill>
            <a:srgbClr val="D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82587" y="2701131"/>
            <a:ext cx="3740188" cy="879475"/>
          </a:xfrm>
          <a:prstGeom prst="roundRect">
            <a:avLst/>
          </a:prstGeom>
          <a:solidFill>
            <a:srgbClr val="F9F9F9"/>
          </a:solidFill>
          <a:ln w="9525">
            <a:solidFill>
              <a:srgbClr val="CD70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45999" y="2845064"/>
            <a:ext cx="432847" cy="194733"/>
          </a:xfrm>
          <a:prstGeom prst="ellipse">
            <a:avLst/>
          </a:prstGeom>
          <a:solidFill>
            <a:srgbClr val="D12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82587" y="3699139"/>
            <a:ext cx="3740188" cy="879475"/>
          </a:xfrm>
          <a:prstGeom prst="roundRect">
            <a:avLst/>
          </a:prstGeom>
          <a:solidFill>
            <a:srgbClr val="F9F9F9"/>
          </a:solidFill>
          <a:ln w="9525">
            <a:solidFill>
              <a:srgbClr val="CD70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719948" y="3843072"/>
            <a:ext cx="358898" cy="194733"/>
          </a:xfrm>
          <a:prstGeom prst="ellipse">
            <a:avLst/>
          </a:prstGeom>
          <a:solidFill>
            <a:srgbClr val="D12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724149" y="2268272"/>
            <a:ext cx="2743131" cy="2743200"/>
          </a:xfrm>
          <a:prstGeom prst="ellipse">
            <a:avLst/>
          </a:prstGeom>
          <a:solidFill>
            <a:srgbClr val="CC1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984757" y="2471472"/>
            <a:ext cx="2222047" cy="2336800"/>
          </a:xfrm>
          <a:prstGeom prst="ellipse">
            <a:avLst/>
          </a:prstGeom>
          <a:solidFill>
            <a:srgbClr val="FFF8F6"/>
          </a:solidFill>
          <a:ln w="9525">
            <a:solidFill>
              <a:srgbClr val="D17A6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68786" y="2701131"/>
            <a:ext cx="3740321" cy="879475"/>
          </a:xfrm>
          <a:prstGeom prst="roundRect">
            <a:avLst/>
          </a:prstGeom>
          <a:solidFill>
            <a:srgbClr val="F9F9F9"/>
          </a:solidFill>
          <a:ln w="9525">
            <a:solidFill>
              <a:srgbClr val="CD70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45833" y="2845064"/>
            <a:ext cx="319344" cy="194733"/>
          </a:xfrm>
          <a:prstGeom prst="ellipse">
            <a:avLst/>
          </a:prstGeom>
          <a:solidFill>
            <a:srgbClr val="D12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968786" y="3699139"/>
            <a:ext cx="3740321" cy="879475"/>
          </a:xfrm>
          <a:prstGeom prst="roundRect">
            <a:avLst/>
          </a:prstGeom>
          <a:solidFill>
            <a:srgbClr val="F9F9F9"/>
          </a:solidFill>
          <a:ln w="9525">
            <a:solidFill>
              <a:srgbClr val="CD70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076107" y="3843072"/>
            <a:ext cx="489070" cy="194733"/>
          </a:xfrm>
          <a:prstGeom prst="ellipse">
            <a:avLst/>
          </a:prstGeom>
          <a:solidFill>
            <a:srgbClr val="D12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82587" y="5536406"/>
            <a:ext cx="2730431" cy="617934"/>
          </a:xfrm>
          <a:prstGeom prst="roundRect">
            <a:avLst/>
          </a:prstGeom>
          <a:solidFill>
            <a:srgbClr val="F9F9F9"/>
          </a:solidFill>
          <a:ln w="9525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14617" y="5536406"/>
            <a:ext cx="2730431" cy="617934"/>
          </a:xfrm>
          <a:prstGeom prst="roundRect">
            <a:avLst/>
          </a:prstGeom>
          <a:solidFill>
            <a:srgbClr val="F9F9F9"/>
          </a:solidFill>
          <a:ln w="9525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46646" y="5536406"/>
            <a:ext cx="2730431" cy="617934"/>
          </a:xfrm>
          <a:prstGeom prst="roundRect">
            <a:avLst/>
          </a:prstGeom>
          <a:solidFill>
            <a:srgbClr val="F9F9F9"/>
          </a:solidFill>
          <a:ln w="9525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78675" y="5536406"/>
            <a:ext cx="2730431" cy="617934"/>
          </a:xfrm>
          <a:prstGeom prst="roundRect">
            <a:avLst/>
          </a:prstGeom>
          <a:solidFill>
            <a:srgbClr val="F9F9F9"/>
          </a:solidFill>
          <a:ln w="9525">
            <a:solidFill>
              <a:srgbClr val="DAD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31763" y="414866"/>
            <a:ext cx="67731" cy="313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D80000"/>
                </a:solidFill>
                <a:latin typeface="Microsoft YaHei"/>
              </a:rPr>
              <a:t>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43931" y="486833"/>
            <a:ext cx="948242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 i="0">
                <a:solidFill>
                  <a:srgbClr val="BE2A1D"/>
                </a:solidFill>
                <a:latin typeface="Microsoft YaHei"/>
              </a:rPr>
              <a:t>数字转型新动力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2715" y="484319"/>
            <a:ext cx="3017497" cy="386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0242A"/>
                </a:solidFill>
                <a:latin typeface="Microsoft YaHei"/>
              </a:rPr>
              <a:t>治理机制与管理减负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587" y="1075266"/>
            <a:ext cx="9990416" cy="5241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222832"/>
                </a:solidFill>
                <a:latin typeface="Microsoft YaHei"/>
              </a:rPr>
              <a:t>治理机制通过统一工具链、统一控制点和统一经营看板承接质量、安全、审计与经营管理要求，并以 Zero Incremental Management 降低 AZ 管理负担。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517" y="2864511"/>
            <a:ext cx="677316" cy="155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C2618"/>
                </a:solidFill>
                <a:latin typeface="Microsoft YaHei"/>
              </a:rPr>
              <a:t>统一工具链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45999" y="2845064"/>
            <a:ext cx="432847" cy="1947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 i="0">
                <a:solidFill>
                  <a:srgbClr val="FFFFFF"/>
                </a:solidFill>
                <a:latin typeface="Microsoft YaHei"/>
              </a:rPr>
              <a:t>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517" y="3124464"/>
            <a:ext cx="3452329" cy="3291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13B47"/>
                </a:solidFill>
                <a:latin typeface="Microsoft YaHei"/>
              </a:rPr>
              <a:t>统一 Jira、Repo、CI/CD、ADR 与 Knowledge Base，让任务、代码、知识与决策记录进入同一套交付环境。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517" y="3862519"/>
            <a:ext cx="541853" cy="155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C2618"/>
                </a:solidFill>
                <a:latin typeface="Microsoft YaHei"/>
              </a:rPr>
              <a:t>经营看板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19948" y="3843072"/>
            <a:ext cx="358898" cy="1947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 i="0">
                <a:solidFill>
                  <a:srgbClr val="FFFFFF"/>
                </a:solidFill>
                <a:latin typeface="Microsoft YaHei"/>
              </a:rPr>
              <a:t>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517" y="4122472"/>
            <a:ext cx="3452329" cy="3291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13B47"/>
                </a:solidFill>
                <a:latin typeface="Microsoft YaHei"/>
              </a:rPr>
              <a:t>统一 Capacity、Cost、Risk、Quality 与 Partner Scorecard，形成可持续复盘与经营决策依据。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53862" y="3382697"/>
            <a:ext cx="1083706" cy="287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C12719"/>
                </a:solidFill>
                <a:latin typeface="Microsoft YaHei"/>
              </a:rPr>
              <a:t>统一治理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6766" y="3737504"/>
            <a:ext cx="1718028" cy="1595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75" b="1" i="0">
                <a:solidFill>
                  <a:srgbClr val="4B5463"/>
                </a:solidFill>
                <a:latin typeface="Microsoft YaHei"/>
              </a:rPr>
              <a:t>Zero Incremental Management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23415" y="2014272"/>
            <a:ext cx="846645" cy="2741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icrosoft YaHei"/>
              </a:rPr>
              <a:t>规则统一 标准先行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85079" y="3047206"/>
            <a:ext cx="846645" cy="2741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icrosoft YaHei"/>
              </a:rPr>
              <a:t>状态透明 风险前置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23415" y="4991364"/>
            <a:ext cx="846645" cy="2741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icrosoft YaHei"/>
              </a:rPr>
              <a:t>经营复盘 持续优化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59837" y="3047206"/>
            <a:ext cx="846645" cy="2741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icrosoft YaHei"/>
              </a:rPr>
              <a:t>责任清晰 管理减负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2715" y="2864511"/>
            <a:ext cx="677316" cy="155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C2618"/>
                </a:solidFill>
                <a:latin typeface="Microsoft YaHei"/>
              </a:rPr>
              <a:t>统一控制点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5833" y="2845064"/>
            <a:ext cx="319344" cy="1947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 i="0">
                <a:solidFill>
                  <a:srgbClr val="FFFFFF"/>
                </a:solidFill>
                <a:latin typeface="Microsoft YaHei"/>
              </a:rPr>
              <a:t>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12715" y="3124464"/>
            <a:ext cx="3452461" cy="3291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13B47"/>
                </a:solidFill>
                <a:latin typeface="Microsoft YaHei"/>
              </a:rPr>
              <a:t>统一 Quality Gates、Security Controls、AI Usage Audit 与 SLA/SLO，把质量、安全和 AI 使用纳入一致框架。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12715" y="3862519"/>
            <a:ext cx="812779" cy="155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C2618"/>
                </a:solidFill>
                <a:latin typeface="Microsoft YaHei"/>
              </a:rPr>
              <a:t>管理减负机制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76107" y="3843072"/>
            <a:ext cx="489070" cy="1947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 i="0">
                <a:solidFill>
                  <a:srgbClr val="FFFFFF"/>
                </a:solidFill>
                <a:latin typeface="Microsoft YaHei"/>
              </a:rPr>
              <a:t>CHECK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12715" y="4122472"/>
            <a:ext cx="3452461" cy="3291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13B47"/>
                </a:solidFill>
                <a:latin typeface="Microsoft YaHei"/>
              </a:rPr>
              <a:t>AZ 聚焦方向、预算、验收与关键决策，软通负责执行与风险控制，AZ 管理 Pod Lead 而不是逐个工程师。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5718" y="5646472"/>
            <a:ext cx="2544169" cy="2047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50" b="1" i="0">
                <a:solidFill>
                  <a:srgbClr val="C22316"/>
                </a:solidFill>
                <a:latin typeface="Microsoft YaHe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5718" y="5902060"/>
            <a:ext cx="2544169" cy="1422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4E5867"/>
                </a:solidFill>
                <a:latin typeface="Microsoft YaHei"/>
              </a:rPr>
              <a:t>统一规则与接口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07748" y="5646472"/>
            <a:ext cx="2544169" cy="2047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50" b="1" i="0">
                <a:solidFill>
                  <a:srgbClr val="C22316"/>
                </a:solidFill>
                <a:latin typeface="Microsoft YaHei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07748" y="5902060"/>
            <a:ext cx="2544169" cy="1422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4E5867"/>
                </a:solidFill>
                <a:latin typeface="Microsoft YaHei"/>
              </a:rPr>
              <a:t>状态、风险自动化呈现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39777" y="5646472"/>
            <a:ext cx="2544169" cy="2047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50" b="1" i="0">
                <a:solidFill>
                  <a:srgbClr val="C22316"/>
                </a:solidFill>
                <a:latin typeface="Microsoft YaHei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39777" y="5902060"/>
            <a:ext cx="2544169" cy="1422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4E5867"/>
                </a:solidFill>
                <a:latin typeface="Microsoft YaHei"/>
              </a:rPr>
              <a:t>固定关键会议，其他异步化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71806" y="5646472"/>
            <a:ext cx="2544169" cy="2047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50" b="1" i="0">
                <a:solidFill>
                  <a:srgbClr val="C22316"/>
                </a:solidFill>
                <a:latin typeface="Microsoft YaHei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71806" y="5902060"/>
            <a:ext cx="2544169" cy="1422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4E5867"/>
                </a:solidFill>
                <a:latin typeface="Microsoft YaHei"/>
              </a:rPr>
              <a:t>以单一界面完成经营判断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67396" y="6468533"/>
            <a:ext cx="424777" cy="143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 i="0">
                <a:solidFill>
                  <a:srgbClr val="8B95A3"/>
                </a:solidFill>
                <a:latin typeface="Microsoft YaHei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82587" y="397933"/>
            <a:ext cx="67731" cy="558800"/>
          </a:xfrm>
          <a:prstGeom prst="ellipse">
            <a:avLst/>
          </a:prstGeom>
          <a:solidFill>
            <a:srgbClr val="D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2587" y="1599803"/>
            <a:ext cx="11226519" cy="795866"/>
          </a:xfrm>
          <a:prstGeom prst="rect">
            <a:avLst/>
          </a:prstGeom>
          <a:solidFill>
            <a:srgbClr val="F7F7F7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1256" y="1769136"/>
            <a:ext cx="457188" cy="457200"/>
          </a:xfrm>
          <a:prstGeom prst="ellipse">
            <a:avLst/>
          </a:prstGeom>
          <a:solidFill>
            <a:srgbClr val="D02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5446" y="1769136"/>
            <a:ext cx="457188" cy="457200"/>
          </a:xfrm>
          <a:prstGeom prst="ellipse">
            <a:avLst/>
          </a:prstGeom>
          <a:solidFill>
            <a:srgbClr val="D02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2587" y="2700469"/>
            <a:ext cx="2163972" cy="370813"/>
          </a:xfrm>
          <a:prstGeom prst="rect">
            <a:avLst/>
          </a:prstGeom>
          <a:solidFill>
            <a:srgbClr val="C7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88376" y="3189816"/>
            <a:ext cx="152396" cy="152400"/>
          </a:xfrm>
          <a:prstGeom prst="ellipse">
            <a:avLst/>
          </a:prstGeom>
          <a:solidFill>
            <a:srgbClr val="FFFFFF"/>
          </a:solidFill>
          <a:ln w="47625">
            <a:solidFill>
              <a:srgbClr val="C71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2587" y="3443816"/>
            <a:ext cx="2163972" cy="2201333"/>
          </a:xfrm>
          <a:prstGeom prst="rect">
            <a:avLst/>
          </a:prstGeom>
          <a:solidFill>
            <a:srgbClr val="F4F4F4"/>
          </a:solidFill>
          <a:ln w="9525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517" y="4742259"/>
            <a:ext cx="515263" cy="177800"/>
          </a:xfrm>
          <a:prstGeom prst="rect">
            <a:avLst/>
          </a:prstGeom>
          <a:solidFill>
            <a:srgbClr val="C7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92579" y="4742259"/>
            <a:ext cx="541853" cy="177800"/>
          </a:xfrm>
          <a:prstGeom prst="rect">
            <a:avLst/>
          </a:prstGeom>
          <a:solidFill>
            <a:srgbClr val="C7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8158" y="2700469"/>
            <a:ext cx="2163972" cy="370813"/>
          </a:xfrm>
          <a:prstGeom prst="rect">
            <a:avLst/>
          </a:prstGeom>
          <a:solidFill>
            <a:srgbClr val="D64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753946" y="3189816"/>
            <a:ext cx="152396" cy="152400"/>
          </a:xfrm>
          <a:prstGeom prst="ellipse">
            <a:avLst/>
          </a:prstGeom>
          <a:solidFill>
            <a:srgbClr val="FFFFFF"/>
          </a:solidFill>
          <a:ln w="47625">
            <a:solidFill>
              <a:srgbClr val="D64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8158" y="3443816"/>
            <a:ext cx="2163972" cy="2201333"/>
          </a:xfrm>
          <a:prstGeom prst="rect">
            <a:avLst/>
          </a:prstGeom>
          <a:solidFill>
            <a:srgbClr val="F4F4F4"/>
          </a:solidFill>
          <a:ln w="9525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92088" y="4742259"/>
            <a:ext cx="541853" cy="177800"/>
          </a:xfrm>
          <a:prstGeom prst="rect">
            <a:avLst/>
          </a:prstGeom>
          <a:solidFill>
            <a:srgbClr val="C7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84739" y="4742259"/>
            <a:ext cx="541853" cy="177800"/>
          </a:xfrm>
          <a:prstGeom prst="rect">
            <a:avLst/>
          </a:prstGeom>
          <a:solidFill>
            <a:srgbClr val="C7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13728" y="2700469"/>
            <a:ext cx="2164105" cy="370813"/>
          </a:xfrm>
          <a:prstGeom prst="rect">
            <a:avLst/>
          </a:prstGeom>
          <a:solidFill>
            <a:srgbClr val="E57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19517" y="3189816"/>
            <a:ext cx="152396" cy="152400"/>
          </a:xfrm>
          <a:prstGeom prst="ellipse">
            <a:avLst/>
          </a:prstGeom>
          <a:solidFill>
            <a:srgbClr val="FFFFFF"/>
          </a:solidFill>
          <a:ln w="47625">
            <a:solidFill>
              <a:srgbClr val="E57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13728" y="3443816"/>
            <a:ext cx="2164105" cy="2201333"/>
          </a:xfrm>
          <a:prstGeom prst="rect">
            <a:avLst/>
          </a:prstGeom>
          <a:solidFill>
            <a:srgbClr val="F4F4F4"/>
          </a:solidFill>
          <a:ln w="9525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57658" y="4742259"/>
            <a:ext cx="541853" cy="177800"/>
          </a:xfrm>
          <a:prstGeom prst="rect">
            <a:avLst/>
          </a:prstGeom>
          <a:solidFill>
            <a:srgbClr val="C7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50310" y="4742259"/>
            <a:ext cx="448722" cy="177800"/>
          </a:xfrm>
          <a:prstGeom prst="rect">
            <a:avLst/>
          </a:prstGeom>
          <a:solidFill>
            <a:srgbClr val="C7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79431" y="2700469"/>
            <a:ext cx="2163972" cy="370813"/>
          </a:xfrm>
          <a:prstGeom prst="rect">
            <a:avLst/>
          </a:prstGeom>
          <a:solidFill>
            <a:srgbClr val="ECA1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85219" y="3189816"/>
            <a:ext cx="152396" cy="152400"/>
          </a:xfrm>
          <a:prstGeom prst="ellipse">
            <a:avLst/>
          </a:prstGeom>
          <a:solidFill>
            <a:srgbClr val="FFFFFF"/>
          </a:solidFill>
          <a:ln w="47625">
            <a:solidFill>
              <a:srgbClr val="ECA1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79431" y="3443816"/>
            <a:ext cx="2163972" cy="2201333"/>
          </a:xfrm>
          <a:prstGeom prst="rect">
            <a:avLst/>
          </a:prstGeom>
          <a:solidFill>
            <a:srgbClr val="F4F4F4"/>
          </a:solidFill>
          <a:ln w="9525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23361" y="4742259"/>
            <a:ext cx="541853" cy="177800"/>
          </a:xfrm>
          <a:prstGeom prst="rect">
            <a:avLst/>
          </a:prstGeom>
          <a:solidFill>
            <a:srgbClr val="C7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16013" y="4742259"/>
            <a:ext cx="541853" cy="177800"/>
          </a:xfrm>
          <a:prstGeom prst="rect">
            <a:avLst/>
          </a:prstGeom>
          <a:solidFill>
            <a:srgbClr val="C7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45001" y="2700469"/>
            <a:ext cx="2164105" cy="370813"/>
          </a:xfrm>
          <a:prstGeom prst="rect">
            <a:avLst/>
          </a:prstGeom>
          <a:solidFill>
            <a:srgbClr val="C7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550790" y="3189816"/>
            <a:ext cx="152396" cy="152400"/>
          </a:xfrm>
          <a:prstGeom prst="ellipse">
            <a:avLst/>
          </a:prstGeom>
          <a:solidFill>
            <a:srgbClr val="FFFFFF"/>
          </a:solidFill>
          <a:ln w="47625">
            <a:solidFill>
              <a:srgbClr val="C71E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545001" y="3443816"/>
            <a:ext cx="2164105" cy="2201333"/>
          </a:xfrm>
          <a:prstGeom prst="rect">
            <a:avLst/>
          </a:prstGeom>
          <a:solidFill>
            <a:srgbClr val="F4F4F4"/>
          </a:solidFill>
          <a:ln w="9525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88931" y="4742259"/>
            <a:ext cx="541853" cy="177800"/>
          </a:xfrm>
          <a:prstGeom prst="rect">
            <a:avLst/>
          </a:prstGeom>
          <a:solidFill>
            <a:srgbClr val="C7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281583" y="4742259"/>
            <a:ext cx="541853" cy="177800"/>
          </a:xfrm>
          <a:prstGeom prst="rect">
            <a:avLst/>
          </a:prstGeom>
          <a:solidFill>
            <a:srgbClr val="C7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31763" y="414866"/>
            <a:ext cx="67731" cy="313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D80000"/>
                </a:solidFill>
                <a:latin typeface="Microsoft YaHei"/>
              </a:rPr>
              <a:t>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43931" y="486833"/>
            <a:ext cx="948242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 i="0">
                <a:solidFill>
                  <a:srgbClr val="BE2A1D"/>
                </a:solidFill>
                <a:latin typeface="Microsoft YaHei"/>
              </a:rPr>
              <a:t>数字转型新动力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2715" y="484319"/>
            <a:ext cx="2470617" cy="386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0242A"/>
                </a:solidFill>
                <a:latin typeface="Microsoft YaHei"/>
              </a:rPr>
              <a:t>AI 能力证明总览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2587" y="1075266"/>
            <a:ext cx="9990416" cy="2620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222832"/>
                </a:solidFill>
                <a:latin typeface="Microsoft YaHei"/>
              </a:rPr>
              <a:t>AI 能力证明围绕六个维度展开，覆盖能力矩阵、平台实践、案例、团队、工程控制与交付收益，形成完整证据链。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1256" y="1769136"/>
            <a:ext cx="4571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icrosoft YaHei"/>
              </a:rPr>
              <a:t>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0042" y="1811866"/>
            <a:ext cx="1578464" cy="176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5" b="1" i="0">
                <a:solidFill>
                  <a:srgbClr val="BC2719"/>
                </a:solidFill>
                <a:latin typeface="Microsoft YaHei"/>
              </a:rPr>
              <a:t>证据总览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80042" y="2031073"/>
            <a:ext cx="1578464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2C3541"/>
                </a:solidFill>
                <a:latin typeface="Microsoft YaHei"/>
              </a:rPr>
              <a:t>围绕 AZ 评标视角组织 AI 能力证明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77421" y="1853803"/>
            <a:ext cx="338658" cy="2878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550" b="1" i="0">
                <a:solidFill>
                  <a:srgbClr val="BA1F14"/>
                </a:solidFill>
                <a:latin typeface="Microsoft YaHei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17677" y="1845336"/>
            <a:ext cx="40638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D3642"/>
                </a:solidFill>
                <a:latin typeface="Microsoft YaHei"/>
              </a:rPr>
              <a:t>证据维度 完整覆盖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84296" y="1853803"/>
            <a:ext cx="338658" cy="2878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550" b="1" i="0">
                <a:solidFill>
                  <a:srgbClr val="BA1F14"/>
                </a:solidFill>
                <a:latin typeface="Microsoft YaHei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24551" y="1845336"/>
            <a:ext cx="40638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2D3642"/>
                </a:solidFill>
                <a:latin typeface="Microsoft YaHei"/>
              </a:rPr>
              <a:t>平台实践 核心类别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5446" y="1769136"/>
            <a:ext cx="4571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icrosoft YaHei"/>
              </a:rPr>
              <a:t>OK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24232" y="1811866"/>
            <a:ext cx="1930351" cy="176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5" b="1" i="0">
                <a:solidFill>
                  <a:srgbClr val="BC2719"/>
                </a:solidFill>
                <a:latin typeface="Microsoft YaHei"/>
              </a:rPr>
              <a:t>交付证明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24232" y="2031073"/>
            <a:ext cx="1930351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2C3541"/>
                </a:solidFill>
                <a:latin typeface="Microsoft YaHei"/>
              </a:rPr>
              <a:t>能力矩阵、案例、团队与控制框架一体呈现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2587" y="2700469"/>
            <a:ext cx="2163972" cy="3708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Microsoft YaHei"/>
              </a:rPr>
              <a:t>01. 能力矩阵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517" y="3587750"/>
            <a:ext cx="1876113" cy="1930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5" b="1" i="0">
                <a:solidFill>
                  <a:srgbClr val="BF2618"/>
                </a:solidFill>
                <a:latin typeface="Microsoft YaHei"/>
              </a:rPr>
              <a:t>Capability Matrix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8913" y="3865430"/>
            <a:ext cx="1723717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2F3844"/>
                </a:solidFill>
                <a:latin typeface="Microsoft YaHei"/>
              </a:rPr>
              <a:t>• 以 AZ 技术环境为中心组织能力矩阵，而不是泛行业九宫格。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8913" y="4295378"/>
            <a:ext cx="1723717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2F3844"/>
                </a:solidFill>
                <a:latin typeface="Microsoft YaHei"/>
              </a:rPr>
              <a:t>• 覆盖 AI / Agent、Data、CRM、Integration 与 Governance 能力。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517" y="4742259"/>
            <a:ext cx="515263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 i="0">
                <a:solidFill>
                  <a:srgbClr val="FFFFFF"/>
                </a:solidFill>
                <a:latin typeface="Microsoft YaHei"/>
              </a:rPr>
              <a:t>AZ 环境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92579" y="4742259"/>
            <a:ext cx="541853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 i="0">
                <a:solidFill>
                  <a:srgbClr val="FFFFFF"/>
                </a:solidFill>
                <a:latin typeface="Microsoft YaHei"/>
              </a:rPr>
              <a:t>能力覆盖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48158" y="2700469"/>
            <a:ext cx="2163972" cy="3708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Microsoft YaHei"/>
              </a:rPr>
              <a:t>02. 平台实践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92088" y="3587750"/>
            <a:ext cx="1876113" cy="1930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5" b="1" i="0">
                <a:solidFill>
                  <a:srgbClr val="BF2618"/>
                </a:solidFill>
                <a:latin typeface="Microsoft YaHei"/>
              </a:rPr>
              <a:t>Platform Practice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44484" y="3865430"/>
            <a:ext cx="1723717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2F3844"/>
                </a:solidFill>
                <a:latin typeface="Microsoft YaHei"/>
              </a:rPr>
              <a:t>• 区分客户平台经验与软通自有平台，说明在哪些环节投入使用。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44484" y="4295378"/>
            <a:ext cx="1723717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2F3844"/>
                </a:solidFill>
                <a:latin typeface="Microsoft YaHei"/>
              </a:rPr>
              <a:t>• 对应用户覆盖、效率提升、审计能力与投产状态。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92088" y="4742259"/>
            <a:ext cx="541853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 i="0">
                <a:solidFill>
                  <a:srgbClr val="FFFFFF"/>
                </a:solidFill>
                <a:latin typeface="Microsoft YaHei"/>
              </a:rPr>
              <a:t>平台经验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84739" y="4742259"/>
            <a:ext cx="541853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 i="0">
                <a:solidFill>
                  <a:srgbClr val="FFFFFF"/>
                </a:solidFill>
                <a:latin typeface="Microsoft YaHei"/>
              </a:rPr>
              <a:t>投产状态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13728" y="2700469"/>
            <a:ext cx="2164105" cy="3708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Microsoft YaHei"/>
              </a:rPr>
              <a:t>03. 企业案例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57658" y="3587750"/>
            <a:ext cx="1876245" cy="1930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5" b="1" i="0">
                <a:solidFill>
                  <a:srgbClr val="BF2618"/>
                </a:solidFill>
                <a:latin typeface="Microsoft YaHei"/>
              </a:rPr>
              <a:t>Enterprise Cases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10054" y="3865430"/>
            <a:ext cx="1723849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2F3844"/>
                </a:solidFill>
                <a:latin typeface="Microsoft YaHei"/>
              </a:rPr>
              <a:t>• 案例不在多，而在可验证，统一使用 Challenge / Scope / Result 模板。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10054" y="4295378"/>
            <a:ext cx="1723849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2F3844"/>
                </a:solidFill>
                <a:latin typeface="Microsoft YaHei"/>
              </a:rPr>
              <a:t>• 重点覆盖 AZ MindSearch、RAG Plus 与企业级 AI 实践场景。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157658" y="4742259"/>
            <a:ext cx="541853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 i="0">
                <a:solidFill>
                  <a:srgbClr val="FFFFFF"/>
                </a:solidFill>
                <a:latin typeface="Microsoft YaHei"/>
              </a:rPr>
              <a:t>统一模板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750310" y="4742259"/>
            <a:ext cx="448722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 i="0">
                <a:solidFill>
                  <a:srgbClr val="FFFFFF"/>
                </a:solidFill>
                <a:latin typeface="Microsoft YaHei"/>
              </a:rPr>
              <a:t>可验证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79431" y="2700469"/>
            <a:ext cx="2163972" cy="3708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Microsoft YaHei"/>
              </a:rPr>
              <a:t>04. 团队结构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23361" y="3587750"/>
            <a:ext cx="1876113" cy="1930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5" b="1" i="0">
                <a:solidFill>
                  <a:srgbClr val="BF2618"/>
                </a:solidFill>
                <a:latin typeface="Microsoft YaHei"/>
              </a:rPr>
              <a:t>Team Composition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575757" y="3865430"/>
            <a:ext cx="1723717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2F3844"/>
                </a:solidFill>
                <a:latin typeface="Microsoft YaHei"/>
              </a:rPr>
              <a:t>• 给出角色、人数、经验分布、已投产项目数、可投入时间和关键专家摘要。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575757" y="4468018"/>
            <a:ext cx="1723717" cy="172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2F3844"/>
                </a:solidFill>
                <a:latin typeface="Microsoft YaHei"/>
              </a:rPr>
              <a:t>• 确保团队证明与交付边界一一对应。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23361" y="4742259"/>
            <a:ext cx="541853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 i="0">
                <a:solidFill>
                  <a:srgbClr val="FFFFFF"/>
                </a:solidFill>
                <a:latin typeface="Microsoft YaHei"/>
              </a:rPr>
              <a:t>角色人数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016013" y="4742259"/>
            <a:ext cx="541853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 i="0">
                <a:solidFill>
                  <a:srgbClr val="FFFFFF"/>
                </a:solidFill>
                <a:latin typeface="Microsoft YaHei"/>
              </a:rPr>
              <a:t>专家摘要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545001" y="2700469"/>
            <a:ext cx="2164105" cy="3708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Microsoft YaHei"/>
              </a:rPr>
              <a:t>05. 控制与收益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688931" y="3587750"/>
            <a:ext cx="1876245" cy="1930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25" b="1" i="0">
                <a:solidFill>
                  <a:srgbClr val="BF2618"/>
                </a:solidFill>
                <a:latin typeface="Microsoft YaHei"/>
              </a:rPr>
              <a:t>Standards &amp; Value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841327" y="3865430"/>
            <a:ext cx="1723849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2F3844"/>
                </a:solidFill>
                <a:latin typeface="Microsoft YaHei"/>
              </a:rPr>
              <a:t>• 补齐 AI 特有控制：版本、评测、幻觉、安全、发布审批、监控回滚。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841327" y="4295378"/>
            <a:ext cx="1723849" cy="3452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2F3844"/>
                </a:solidFill>
                <a:latin typeface="Microsoft YaHei"/>
              </a:rPr>
              <a:t>• 把内部 AI 使用数据转成 AZ 可理解的 use case、时间区间和收益证明。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88931" y="4742259"/>
            <a:ext cx="541853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 i="0">
                <a:solidFill>
                  <a:srgbClr val="FFFFFF"/>
                </a:solidFill>
                <a:latin typeface="Microsoft YaHei"/>
              </a:rPr>
              <a:t>控制框架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281583" y="4742259"/>
            <a:ext cx="541853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 i="0">
                <a:solidFill>
                  <a:srgbClr val="FFFFFF"/>
                </a:solidFill>
                <a:latin typeface="Microsoft YaHei"/>
              </a:rPr>
              <a:t>交付收益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267396" y="6468533"/>
            <a:ext cx="424777" cy="143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 i="0">
                <a:solidFill>
                  <a:srgbClr val="8B95A3"/>
                </a:solidFill>
                <a:latin typeface="Microsoft YaHe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82587" y="397933"/>
            <a:ext cx="67731" cy="558800"/>
          </a:xfrm>
          <a:prstGeom prst="ellipse">
            <a:avLst/>
          </a:prstGeom>
          <a:solidFill>
            <a:srgbClr val="D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82587" y="1684469"/>
            <a:ext cx="5537061" cy="2265494"/>
          </a:xfrm>
          <a:prstGeom prst="roundRect">
            <a:avLst/>
          </a:prstGeom>
          <a:solidFill>
            <a:srgbClr val="FFF4F1"/>
          </a:solidFill>
          <a:ln w="9525">
            <a:solidFill>
              <a:srgbClr val="D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72045" y="1684469"/>
            <a:ext cx="5537061" cy="226549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31763" y="414866"/>
            <a:ext cx="67731" cy="313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D80000"/>
                </a:solidFill>
                <a:latin typeface="Microsoft YaHei"/>
              </a:rPr>
              <a:t>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3931" y="486833"/>
            <a:ext cx="948242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 i="0">
                <a:solidFill>
                  <a:srgbClr val="BE2A1D"/>
                </a:solidFill>
                <a:latin typeface="Microsoft YaHei"/>
              </a:rPr>
              <a:t>数字转型新动力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2715" y="484319"/>
            <a:ext cx="3811756" cy="386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0242A"/>
                </a:solidFill>
                <a:latin typeface="Microsoft YaHei"/>
              </a:rPr>
              <a:t>AI 平台实践、案例与团队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587" y="1075266"/>
            <a:ext cx="9990416" cy="2620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222832"/>
                </a:solidFill>
                <a:latin typeface="Microsoft YaHei"/>
              </a:rPr>
              <a:t>通过能力矩阵、平台实践、企业级案例与核心团队投入，证明软通具备将 AI 能力落到 AZ 交付场景的真实经验与组织保障。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249" y="1879203"/>
            <a:ext cx="5113738" cy="2861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 i="0">
                <a:solidFill>
                  <a:srgbClr val="20242A"/>
                </a:solidFill>
                <a:latin typeface="Microsoft YaHei"/>
              </a:rPr>
              <a:t>平台实践与能力矩阵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3578" y="2266950"/>
            <a:ext cx="4944409" cy="2057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 i="0">
                <a:solidFill>
                  <a:srgbClr val="2D3440"/>
                </a:solidFill>
                <a:latin typeface="Microsoft YaHei"/>
              </a:rPr>
              <a:t>• 阿里百炼与国内 GenAI 能力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3578" y="2523463"/>
            <a:ext cx="4944409" cy="2057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 i="0">
                <a:solidFill>
                  <a:srgbClr val="2D3440"/>
                </a:solidFill>
                <a:latin typeface="Microsoft YaHei"/>
              </a:rPr>
              <a:t>• International / Global Agent 集成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3578" y="2779977"/>
            <a:ext cx="4944409" cy="2057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 i="0">
                <a:solidFill>
                  <a:srgbClr val="2D3440"/>
                </a:solidFill>
                <a:latin typeface="Microsoft YaHei"/>
              </a:rPr>
              <a:t>• RAG 与 Enterprise Knowledge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3578" y="3036490"/>
            <a:ext cx="4944409" cy="2057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 i="0">
                <a:solidFill>
                  <a:srgbClr val="2D3440"/>
                </a:solidFill>
                <a:latin typeface="Microsoft YaHei"/>
              </a:rPr>
              <a:t>• Data / BI、CRM、Enterprise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3578" y="3293004"/>
            <a:ext cx="4944409" cy="2057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 i="0">
                <a:solidFill>
                  <a:srgbClr val="2D3440"/>
                </a:solidFill>
                <a:latin typeface="Microsoft YaHei"/>
              </a:rPr>
              <a:t>• AI Engineering、AI Governance、MLOps / LLMOps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578" y="3549517"/>
            <a:ext cx="4944409" cy="2057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 i="0">
                <a:solidFill>
                  <a:srgbClr val="2D3440"/>
                </a:solidFill>
                <a:latin typeface="Microsoft YaHei"/>
              </a:rPr>
              <a:t>• 覆盖使用环节、用户覆盖、效率提升、审计能力与投产状态。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3707" y="1879203"/>
            <a:ext cx="5113738" cy="2861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1" i="0">
                <a:solidFill>
                  <a:srgbClr val="20242A"/>
                </a:solidFill>
                <a:latin typeface="Microsoft YaHei"/>
              </a:rPr>
              <a:t>案例与团队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036" y="2266950"/>
            <a:ext cx="4944409" cy="2057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 i="0">
                <a:solidFill>
                  <a:srgbClr val="2D3440"/>
                </a:solidFill>
                <a:latin typeface="Microsoft YaHei"/>
              </a:rPr>
              <a:t>• 重点案例覆盖 AZ MindSearch、RAG Plus、企业级 AI 实践与全球 Agent 场景。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036" y="2523463"/>
            <a:ext cx="4944409" cy="4114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 i="0">
                <a:solidFill>
                  <a:srgbClr val="2D3440"/>
                </a:solidFill>
                <a:latin typeface="Microsoft YaHei"/>
              </a:rPr>
              <a:t>• 核心团队覆盖 Solution Architect、AI / Agent、RAG / Knowledge、Data、QA / Evaluation、PM / BA 等角色。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36" y="2985690"/>
            <a:ext cx="4944409" cy="2057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 i="0">
                <a:solidFill>
                  <a:srgbClr val="2D3440"/>
                </a:solidFill>
                <a:latin typeface="Microsoft YaHei"/>
              </a:rPr>
              <a:t>• 明确人数、经验分布、已投产项目数、投入时间与关键专家摘要。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587" y="4034631"/>
            <a:ext cx="11226519" cy="1574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F6673"/>
                </a:solidFill>
                <a:latin typeface="Microsoft YaHei"/>
              </a:rPr>
              <a:t>案例呈现采用统一模板：Challenge / Scope / Architecture / Scale / Result / Responsibility / Relevance to AZ。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67396" y="6468533"/>
            <a:ext cx="424777" cy="143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 i="0">
                <a:solidFill>
                  <a:srgbClr val="8B95A3"/>
                </a:solidFill>
                <a:latin typeface="Microsoft YaHe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82587" y="397933"/>
            <a:ext cx="67731" cy="558800"/>
          </a:xfrm>
          <a:prstGeom prst="ellipse">
            <a:avLst/>
          </a:prstGeom>
          <a:solidFill>
            <a:srgbClr val="D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82587" y="2384954"/>
            <a:ext cx="3740188" cy="823515"/>
          </a:xfrm>
          <a:prstGeom prst="roundRect">
            <a:avLst/>
          </a:prstGeom>
          <a:solidFill>
            <a:srgbClr val="F9F9F9"/>
          </a:solidFill>
          <a:ln w="9525">
            <a:solidFill>
              <a:srgbClr val="D67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82587" y="3327003"/>
            <a:ext cx="3740188" cy="823515"/>
          </a:xfrm>
          <a:prstGeom prst="roundRect">
            <a:avLst/>
          </a:prstGeom>
          <a:solidFill>
            <a:srgbClr val="F9F9F9"/>
          </a:solidFill>
          <a:ln w="9525">
            <a:solidFill>
              <a:srgbClr val="D67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>
            <a:off x="5333734" y="1599803"/>
            <a:ext cx="1523961" cy="897466"/>
          </a:xfrm>
          <a:prstGeom prst="triangle">
            <a:avLst/>
          </a:prstGeom>
          <a:solidFill>
            <a:srgbClr val="EE8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>
            <a:off x="5079740" y="2581936"/>
            <a:ext cx="2031949" cy="1032933"/>
          </a:xfrm>
          <a:prstGeom prst="triangle">
            <a:avLst/>
          </a:prstGeom>
          <a:solidFill>
            <a:srgbClr val="DC5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>
            <a:off x="4791881" y="3699536"/>
            <a:ext cx="2607668" cy="1236133"/>
          </a:xfrm>
          <a:prstGeom prst="triangle">
            <a:avLst/>
          </a:prstGeom>
          <a:solidFill>
            <a:srgbClr val="CF2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68786" y="2467239"/>
            <a:ext cx="3740321" cy="823515"/>
          </a:xfrm>
          <a:prstGeom prst="roundRect">
            <a:avLst/>
          </a:prstGeom>
          <a:solidFill>
            <a:srgbClr val="F9F9F9"/>
          </a:solidFill>
          <a:ln w="9525">
            <a:solidFill>
              <a:srgbClr val="D67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68786" y="3409288"/>
            <a:ext cx="3740321" cy="658944"/>
          </a:xfrm>
          <a:prstGeom prst="roundRect">
            <a:avLst/>
          </a:prstGeom>
          <a:solidFill>
            <a:srgbClr val="F9F9F9"/>
          </a:solidFill>
          <a:ln w="9525">
            <a:solidFill>
              <a:srgbClr val="D67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82587" y="5054203"/>
            <a:ext cx="2730431" cy="669131"/>
          </a:xfrm>
          <a:prstGeom prst="roundRect">
            <a:avLst/>
          </a:prstGeom>
          <a:solidFill>
            <a:srgbClr val="F9F9F9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14617" y="5054203"/>
            <a:ext cx="2730431" cy="669131"/>
          </a:xfrm>
          <a:prstGeom prst="roundRect">
            <a:avLst/>
          </a:prstGeom>
          <a:solidFill>
            <a:srgbClr val="F9F9F9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46646" y="5054203"/>
            <a:ext cx="2730431" cy="669131"/>
          </a:xfrm>
          <a:prstGeom prst="roundRect">
            <a:avLst/>
          </a:prstGeom>
          <a:solidFill>
            <a:srgbClr val="F9F9F9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78675" y="5054203"/>
            <a:ext cx="2730431" cy="669131"/>
          </a:xfrm>
          <a:prstGeom prst="roundRect">
            <a:avLst/>
          </a:prstGeom>
          <a:solidFill>
            <a:srgbClr val="F9F9F9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31763" y="414866"/>
            <a:ext cx="67731" cy="313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D80000"/>
                </a:solidFill>
                <a:latin typeface="Microsoft YaHei"/>
              </a:rPr>
              <a:t>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43931" y="486833"/>
            <a:ext cx="948242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 i="0">
                <a:solidFill>
                  <a:srgbClr val="BE2A1D"/>
                </a:solidFill>
                <a:latin typeface="Microsoft YaHei"/>
              </a:rPr>
              <a:t>数字转型新动力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2715" y="484319"/>
            <a:ext cx="8035062" cy="386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0242A"/>
                </a:solidFill>
                <a:latin typeface="Microsoft YaHei"/>
              </a:rPr>
              <a:t>AI Engineering 控制框架与 AZ Delivery Use Cases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587" y="1075266"/>
            <a:ext cx="9990416" cy="2620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222832"/>
                </a:solidFill>
                <a:latin typeface="Microsoft YaHei"/>
              </a:rPr>
              <a:t>AI 交付能力通过控制框架与场景化 use case 呈现，确保效率提升、人工控制与审计要求同时成立。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517" y="2528887"/>
            <a:ext cx="3452329" cy="155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D2618"/>
                </a:solidFill>
                <a:latin typeface="Microsoft YaHei"/>
              </a:rPr>
              <a:t>Use Case Intake &amp; Data Classification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517" y="2752328"/>
            <a:ext cx="3452329" cy="3291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13B47"/>
                </a:solidFill>
                <a:latin typeface="Microsoft YaHei"/>
              </a:rPr>
              <a:t>先定义使用场景、数据等级与风险边界，确保 AI 使用先入池、再评估、再进入交付流程。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517" y="3470936"/>
            <a:ext cx="3452329" cy="155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D2618"/>
                </a:solidFill>
                <a:latin typeface="Microsoft YaHei"/>
              </a:rPr>
              <a:t>Evaluation &amp; Security 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517" y="3694377"/>
            <a:ext cx="3452329" cy="3291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13B47"/>
                </a:solidFill>
                <a:latin typeface="Microsoft YaHei"/>
              </a:rPr>
              <a:t>通过 Evaluation Dataset、Groundedness、Security / Privacy Testing 验证 AI 输出可用且可控。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44754" y="2007658"/>
            <a:ext cx="701789" cy="2849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25" b="1" i="0">
                <a:solidFill>
                  <a:srgbClr val="FFFFFF"/>
                </a:solidFill>
                <a:latin typeface="Microsoft YaHei"/>
              </a:rPr>
              <a:t>Human Review &amp; Audit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4901" y="3012148"/>
            <a:ext cx="941496" cy="2741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5" b="1" i="0">
                <a:solidFill>
                  <a:srgbClr val="FFFFFF"/>
                </a:solidFill>
                <a:latin typeface="Microsoft YaHei"/>
              </a:rPr>
              <a:t>AI Engineering Controls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98188" y="4222220"/>
            <a:ext cx="795053" cy="2923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YaHei"/>
              </a:rPr>
              <a:t>AZ Delivery Use Cases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2715" y="2611172"/>
            <a:ext cx="3452461" cy="155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D2618"/>
                </a:solidFill>
                <a:latin typeface="Microsoft YaHei"/>
              </a:rPr>
              <a:t>Version Control &amp; Release Approval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12715" y="2834613"/>
            <a:ext cx="3452461" cy="3291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13B47"/>
                </a:solidFill>
                <a:latin typeface="Microsoft YaHei"/>
              </a:rPr>
              <a:t>对 Model、Prompt、Agent 版本进行管理，并通过 Release Approval 保留人工审批权。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12715" y="3553221"/>
            <a:ext cx="3452461" cy="155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D2618"/>
                </a:solidFill>
                <a:latin typeface="Microsoft YaHei"/>
              </a:rPr>
              <a:t>Monitoring, Incident &amp; Rollback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12715" y="3776662"/>
            <a:ext cx="3452461" cy="16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313B47"/>
                </a:solidFill>
                <a:latin typeface="Microsoft YaHei"/>
              </a:rPr>
              <a:t>上线后持续监控 AI 行为与质量，一旦异常可回滚、定位和补充审计证据。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5718" y="5164269"/>
            <a:ext cx="2544169" cy="146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5" b="1" i="0">
                <a:solidFill>
                  <a:srgbClr val="C12417"/>
                </a:solidFill>
                <a:latin typeface="Microsoft YaHei"/>
              </a:rPr>
              <a:t>需求 / 设计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5718" y="5352653"/>
            <a:ext cx="2544169" cy="130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25" b="0" i="0">
                <a:solidFill>
                  <a:srgbClr val="4C5665"/>
                </a:solidFill>
                <a:latin typeface="Microsoft YaHei"/>
              </a:rPr>
              <a:t>Spec 生成、完整性检查、影响分析，BA / Architect 审批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07748" y="5164269"/>
            <a:ext cx="2544169" cy="146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5" b="1" i="0">
                <a:solidFill>
                  <a:srgbClr val="C12417"/>
                </a:solidFill>
                <a:latin typeface="Microsoft YaHei"/>
              </a:rPr>
              <a:t>开发 / 测试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07748" y="5352653"/>
            <a:ext cx="2544169" cy="2606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25" b="0" i="0">
                <a:solidFill>
                  <a:srgbClr val="4C5665"/>
                </a:solidFill>
                <a:latin typeface="Microsoft YaHei"/>
              </a:rPr>
              <a:t>代码生成、重构、测试生成、缺陷定位，Code Review / QA 验收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9777" y="5164269"/>
            <a:ext cx="2544169" cy="146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5" b="1" i="0">
                <a:solidFill>
                  <a:srgbClr val="C12417"/>
                </a:solidFill>
                <a:latin typeface="Microsoft YaHei"/>
              </a:rPr>
              <a:t>发布 / 运维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9777" y="5352653"/>
            <a:ext cx="2544169" cy="2606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25" b="0" i="0">
                <a:solidFill>
                  <a:srgbClr val="4C5665"/>
                </a:solidFill>
                <a:latin typeface="Microsoft YaHei"/>
              </a:rPr>
              <a:t>风险分析、Release Note、日志分析、根因定位，Release Manager / SRE 处置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71806" y="5164269"/>
            <a:ext cx="2544169" cy="146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5" b="1" i="0">
                <a:solidFill>
                  <a:srgbClr val="C12417"/>
                </a:solidFill>
                <a:latin typeface="Microsoft YaHei"/>
              </a:rPr>
              <a:t>管理 / 经营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71806" y="5352653"/>
            <a:ext cx="2544169" cy="130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25" b="0" i="0">
                <a:solidFill>
                  <a:srgbClr val="4C5665"/>
                </a:solidFill>
                <a:latin typeface="Microsoft YaHei"/>
              </a:rPr>
              <a:t>进度、风险、容量预测，Delivery Lead 决策，管理时间下降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67396" y="6468533"/>
            <a:ext cx="424777" cy="143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 i="0">
                <a:solidFill>
                  <a:srgbClr val="8B95A3"/>
                </a:solidFill>
                <a:latin typeface="Microsoft YaHe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82587" y="397933"/>
            <a:ext cx="67731" cy="558800"/>
          </a:xfrm>
          <a:prstGeom prst="ellipse">
            <a:avLst/>
          </a:prstGeom>
          <a:solidFill>
            <a:srgbClr val="D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53035" y="2581936"/>
            <a:ext cx="101597" cy="101600"/>
          </a:xfrm>
          <a:prstGeom prst="ellipse">
            <a:avLst/>
          </a:prstGeom>
          <a:solidFill>
            <a:srgbClr val="CA2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0447" y="3377803"/>
            <a:ext cx="1896485" cy="1146175"/>
          </a:xfrm>
          <a:prstGeom prst="roundRect">
            <a:avLst/>
          </a:prstGeom>
          <a:solidFill>
            <a:srgbClr val="F9F9F9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7444" y="3530203"/>
            <a:ext cx="454807" cy="169333"/>
          </a:xfrm>
          <a:prstGeom prst="ellipse">
            <a:avLst/>
          </a:prstGeom>
          <a:solidFill>
            <a:srgbClr val="D62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352716" y="3428603"/>
            <a:ext cx="101597" cy="101600"/>
          </a:xfrm>
          <a:prstGeom prst="ellipse">
            <a:avLst/>
          </a:prstGeom>
          <a:solidFill>
            <a:srgbClr val="CA2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616134" y="2514203"/>
            <a:ext cx="1896485" cy="1285875"/>
          </a:xfrm>
          <a:prstGeom prst="roundRect">
            <a:avLst/>
          </a:prstGeom>
          <a:solidFill>
            <a:srgbClr val="F9F9F9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3131" y="2666603"/>
            <a:ext cx="454807" cy="169333"/>
          </a:xfrm>
          <a:prstGeom prst="ellipse">
            <a:avLst/>
          </a:prstGeom>
          <a:solidFill>
            <a:srgbClr val="D84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841853" y="2819003"/>
            <a:ext cx="101597" cy="101600"/>
          </a:xfrm>
          <a:prstGeom prst="ellipse">
            <a:avLst/>
          </a:prstGeom>
          <a:solidFill>
            <a:srgbClr val="CA2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2205" y="3564069"/>
            <a:ext cx="1896485" cy="1146175"/>
          </a:xfrm>
          <a:prstGeom prst="roundRect">
            <a:avLst/>
          </a:prstGeom>
          <a:solidFill>
            <a:srgbClr val="F9F9F9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249202" y="3716469"/>
            <a:ext cx="454807" cy="169333"/>
          </a:xfrm>
          <a:prstGeom prst="ellipse">
            <a:avLst/>
          </a:prstGeom>
          <a:solidFill>
            <a:srgbClr val="E57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63260" y="3259269"/>
            <a:ext cx="101597" cy="101600"/>
          </a:xfrm>
          <a:prstGeom prst="ellipse">
            <a:avLst/>
          </a:prstGeom>
          <a:solidFill>
            <a:srgbClr val="CA2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74282" y="2395669"/>
            <a:ext cx="1896485" cy="1146175"/>
          </a:xfrm>
          <a:prstGeom prst="roundRect">
            <a:avLst/>
          </a:prstGeom>
          <a:solidFill>
            <a:srgbClr val="F9F9F9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501279" y="2548069"/>
            <a:ext cx="454807" cy="169333"/>
          </a:xfrm>
          <a:prstGeom prst="ellipse">
            <a:avLst/>
          </a:prstGeom>
          <a:solidFill>
            <a:srgbClr val="E89A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870928" y="2683536"/>
            <a:ext cx="101597" cy="101600"/>
          </a:xfrm>
          <a:prstGeom prst="ellipse">
            <a:avLst/>
          </a:prstGeom>
          <a:solidFill>
            <a:srgbClr val="CA2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541694" y="3462469"/>
            <a:ext cx="1896485" cy="1146175"/>
          </a:xfrm>
          <a:prstGeom prst="roundRect">
            <a:avLst/>
          </a:prstGeom>
          <a:solidFill>
            <a:srgbClr val="F9F9F9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68691" y="3614869"/>
            <a:ext cx="454807" cy="169333"/>
          </a:xfrm>
          <a:prstGeom prst="ellipse">
            <a:avLst/>
          </a:prstGeom>
          <a:solidFill>
            <a:srgbClr val="ECA2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76381" y="4934082"/>
            <a:ext cx="5595665" cy="374120"/>
          </a:xfrm>
          <a:prstGeom prst="roundRect">
            <a:avLst/>
          </a:prstGeom>
          <a:solidFill>
            <a:srgbClr val="FFF7F6"/>
          </a:solidFill>
          <a:ln w="9525">
            <a:solidFill>
              <a:srgbClr val="DFD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31763" y="414866"/>
            <a:ext cx="67731" cy="313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D80000"/>
                </a:solidFill>
                <a:latin typeface="Microsoft YaHei"/>
              </a:rPr>
              <a:t>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43931" y="486833"/>
            <a:ext cx="948242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 i="0">
                <a:solidFill>
                  <a:srgbClr val="BE2A1D"/>
                </a:solidFill>
                <a:latin typeface="Microsoft YaHei"/>
              </a:rPr>
              <a:t>数字转型新动力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2715" y="484319"/>
            <a:ext cx="2113703" cy="386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0242A"/>
                </a:solidFill>
                <a:latin typeface="Microsoft YaHei"/>
              </a:rPr>
              <a:t>CKP 专项方案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587" y="1075266"/>
            <a:ext cx="9990416" cy="2620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222832"/>
                </a:solidFill>
                <a:latin typeface="Microsoft YaHei"/>
              </a:rPr>
              <a:t>CKP 专项方案围绕问题定义、目标架构与推荐路径展开，目标是在保证百炼平台衔接的同时，建立稳定的知识对象、增量处理与评测回滚机制。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7508" y="2500973"/>
            <a:ext cx="1326852" cy="1116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25" b="1" i="0">
                <a:solidFill>
                  <a:srgbClr val="8B95A3"/>
                </a:solidFill>
                <a:latin typeface="Microsoft YaHei"/>
              </a:rPr>
              <a:t>Parser / Chunk / Traceability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444" y="3530203"/>
            <a:ext cx="454807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Microsoft YaHei"/>
              </a:rPr>
              <a:t>STEP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7444" y="3767269"/>
            <a:ext cx="1642492" cy="15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E2618"/>
                </a:solidFill>
                <a:latin typeface="Microsoft YaHei"/>
              </a:rPr>
              <a:t>识别关键断点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444" y="3994811"/>
            <a:ext cx="1642492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 i="0">
                <a:solidFill>
                  <a:srgbClr val="313B47"/>
                </a:solidFill>
                <a:latin typeface="Microsoft YaHei"/>
              </a:rPr>
              <a:t>解析器能力不足、表格图片处理不稳、Chunk ID 不稳定、全量重建替代增量更新，导致人工调整无法沉淀。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73323" y="4126573"/>
            <a:ext cx="1151305" cy="1116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25" b="1" i="0">
                <a:solidFill>
                  <a:srgbClr val="8B95A3"/>
                </a:solidFill>
                <a:latin typeface="Microsoft YaHei"/>
              </a:rPr>
              <a:t>Document Object 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131" y="2666603"/>
            <a:ext cx="454807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Microsoft YaHei"/>
              </a:rPr>
              <a:t>STEP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131" y="2903669"/>
            <a:ext cx="1642492" cy="15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E2618"/>
                </a:solidFill>
                <a:latin typeface="Microsoft YaHei"/>
              </a:rPr>
              <a:t>建立知识对象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131" y="3131211"/>
            <a:ext cx="1642492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 i="0">
                <a:solidFill>
                  <a:srgbClr val="313B47"/>
                </a:solidFill>
                <a:latin typeface="Microsoft YaHei"/>
              </a:rPr>
              <a:t>统一 Document / Section / Paragraph / Table / Figure / Clause 稳定结构，让文档、Chunk 和规则具备可追溯关系。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9393" y="2721107"/>
            <a:ext cx="1092172" cy="1116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25" b="1" i="0">
                <a:solidFill>
                  <a:srgbClr val="8B95A3"/>
                </a:solidFill>
                <a:latin typeface="Microsoft YaHei"/>
              </a:rPr>
              <a:t>Incremental Processing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49202" y="3716469"/>
            <a:ext cx="454807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Microsoft YaHei"/>
              </a:rPr>
              <a:t>STEP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49202" y="3953536"/>
            <a:ext cx="1642492" cy="15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E2618"/>
                </a:solidFill>
                <a:latin typeface="Microsoft YaHei"/>
              </a:rPr>
              <a:t>形成版本控制层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49202" y="4181078"/>
            <a:ext cx="1642492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 i="0">
                <a:solidFill>
                  <a:srgbClr val="313B47"/>
                </a:solidFill>
                <a:latin typeface="Microsoft YaHei"/>
              </a:rPr>
              <a:t>通过稳定语义身份、差异检测和版本控制层支持增量处理，避免每次变更都全量重建知识内容。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799" y="3957240"/>
            <a:ext cx="1026160" cy="1116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25" b="1" i="0">
                <a:solidFill>
                  <a:srgbClr val="8B95A3"/>
                </a:solidFill>
                <a:latin typeface="Microsoft YaHei"/>
              </a:rPr>
              <a:t>Evaluation &amp; Rollback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01279" y="2548069"/>
            <a:ext cx="454807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Microsoft YaHei"/>
              </a:rPr>
              <a:t>STEP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01279" y="2785136"/>
            <a:ext cx="1642492" cy="15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E2618"/>
                </a:solidFill>
                <a:latin typeface="Microsoft YaHei"/>
              </a:rPr>
              <a:t>沉淀规则与评测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01279" y="3012678"/>
            <a:ext cx="1642492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 i="0">
                <a:solidFill>
                  <a:srgbClr val="313B47"/>
                </a:solidFill>
                <a:latin typeface="Microsoft YaHei"/>
              </a:rPr>
              <a:t>把人工调整抽象为规则，配套 Golden Set、自动评测和异常回滚机制，确保 CKP 从 POC 走向可运营状态。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75406" y="2585640"/>
            <a:ext cx="678110" cy="1116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25" b="1" i="0">
                <a:solidFill>
                  <a:srgbClr val="8B95A3"/>
                </a:solidFill>
                <a:latin typeface="Microsoft YaHei"/>
              </a:rPr>
              <a:t>Rollout / Scale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68691" y="3614869"/>
            <a:ext cx="454807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Microsoft YaHei"/>
              </a:rPr>
              <a:t>STEP 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68691" y="3851936"/>
            <a:ext cx="1642492" cy="15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E2618"/>
                </a:solidFill>
                <a:latin typeface="Microsoft YaHei"/>
              </a:rPr>
              <a:t>推荐实施路径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68691" y="4079478"/>
            <a:ext cx="1642492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 i="0">
                <a:solidFill>
                  <a:srgbClr val="313B47"/>
                </a:solidFill>
                <a:latin typeface="Microsoft YaHei"/>
              </a:rPr>
              <a:t>在不改变百炼平台方向的前提下，优先建设外置预处理与版本控制层，平衡控制力、周期与运维成本。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7243" y="5044148"/>
            <a:ext cx="550319" cy="143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 i="0">
                <a:solidFill>
                  <a:srgbClr val="C12417"/>
                </a:solidFill>
                <a:latin typeface="Microsoft YaHei"/>
              </a:rPr>
              <a:t>推荐方案：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67396" y="6468533"/>
            <a:ext cx="424777" cy="143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 i="0">
                <a:solidFill>
                  <a:srgbClr val="8B95A3"/>
                </a:solidFill>
                <a:latin typeface="Microsoft YaHe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82587" y="397933"/>
            <a:ext cx="67731" cy="558800"/>
          </a:xfrm>
          <a:prstGeom prst="ellipse">
            <a:avLst/>
          </a:prstGeom>
          <a:solidFill>
            <a:srgbClr val="D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82587" y="1599803"/>
            <a:ext cx="2106824" cy="858043"/>
          </a:xfrm>
          <a:prstGeom prst="roundRect">
            <a:avLst/>
          </a:prstGeom>
          <a:solidFill>
            <a:srgbClr val="FFFBFA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657143" y="1599803"/>
            <a:ext cx="2106824" cy="858043"/>
          </a:xfrm>
          <a:prstGeom prst="roundRect">
            <a:avLst/>
          </a:prstGeom>
          <a:solidFill>
            <a:srgbClr val="FFFBFA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831700" y="1599803"/>
            <a:ext cx="2106824" cy="858043"/>
          </a:xfrm>
          <a:prstGeom prst="roundRect">
            <a:avLst/>
          </a:prstGeom>
          <a:solidFill>
            <a:srgbClr val="FFFBFA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06256" y="1599803"/>
            <a:ext cx="2106824" cy="858043"/>
          </a:xfrm>
          <a:prstGeom prst="roundRect">
            <a:avLst/>
          </a:prstGeom>
          <a:solidFill>
            <a:srgbClr val="FFFBFA"/>
          </a:solidFill>
          <a:ln w="9525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80812" y="1599803"/>
            <a:ext cx="2528295" cy="858043"/>
          </a:xfrm>
          <a:prstGeom prst="roundRect">
            <a:avLst/>
          </a:prstGeom>
          <a:solidFill>
            <a:srgbClr val="FFF5F3"/>
          </a:solidFill>
          <a:ln w="9525">
            <a:solidFill>
              <a:srgbClr val="D88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2587" y="2559446"/>
            <a:ext cx="11226519" cy="3158463"/>
          </a:xfrm>
          <a:prstGeom prst="rect">
            <a:avLst/>
          </a:prstGeom>
          <a:noFill/>
          <a:ln w="95250">
            <a:solidFill>
              <a:srgbClr val="D123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904952" y="2728780"/>
            <a:ext cx="2400239" cy="256513"/>
          </a:xfrm>
          <a:prstGeom prst="roundRect">
            <a:avLst/>
          </a:prstGeom>
          <a:solidFill>
            <a:srgbClr val="D12B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72924" y="2728780"/>
            <a:ext cx="2400239" cy="256513"/>
          </a:xfrm>
          <a:prstGeom prst="roundRect">
            <a:avLst/>
          </a:prstGeom>
          <a:solidFill>
            <a:srgbClr val="D84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40895" y="2728780"/>
            <a:ext cx="2400239" cy="256513"/>
          </a:xfrm>
          <a:prstGeom prst="roundRect">
            <a:avLst/>
          </a:prstGeom>
          <a:solidFill>
            <a:srgbClr val="E57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08867" y="2728780"/>
            <a:ext cx="2400239" cy="256513"/>
          </a:xfrm>
          <a:prstGeom prst="roundRect">
            <a:avLst/>
          </a:prstGeom>
          <a:solidFill>
            <a:srgbClr val="ECA2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82587" y="3053027"/>
            <a:ext cx="1354632" cy="638175"/>
          </a:xfrm>
          <a:prstGeom prst="roundRect">
            <a:avLst/>
          </a:prstGeom>
          <a:solidFill>
            <a:srgbClr val="CB2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904952" y="3053027"/>
            <a:ext cx="2400239" cy="638175"/>
          </a:xfrm>
          <a:prstGeom prst="roundRect">
            <a:avLst/>
          </a:prstGeom>
          <a:solidFill>
            <a:srgbClr val="FBF7F6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981150" y="3146160"/>
            <a:ext cx="588021" cy="186266"/>
          </a:xfrm>
          <a:prstGeom prst="ellipse">
            <a:avLst/>
          </a:prstGeom>
          <a:solidFill>
            <a:srgbClr val="D62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72924" y="3053027"/>
            <a:ext cx="2400239" cy="638175"/>
          </a:xfrm>
          <a:prstGeom prst="roundRect">
            <a:avLst/>
          </a:prstGeom>
          <a:solidFill>
            <a:srgbClr val="FBF7F6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49122" y="3146160"/>
            <a:ext cx="611172" cy="186266"/>
          </a:xfrm>
          <a:prstGeom prst="ellipse">
            <a:avLst/>
          </a:prstGeom>
          <a:solidFill>
            <a:srgbClr val="D84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40895" y="3053027"/>
            <a:ext cx="2400239" cy="638175"/>
          </a:xfrm>
          <a:prstGeom prst="roundRect">
            <a:avLst/>
          </a:prstGeom>
          <a:solidFill>
            <a:srgbClr val="FBF7F6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17093" y="3146160"/>
            <a:ext cx="649668" cy="186266"/>
          </a:xfrm>
          <a:prstGeom prst="ellipse">
            <a:avLst/>
          </a:prstGeom>
          <a:solidFill>
            <a:srgbClr val="E57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308867" y="3053027"/>
            <a:ext cx="2400239" cy="638175"/>
          </a:xfrm>
          <a:prstGeom prst="roundRect">
            <a:avLst/>
          </a:prstGeom>
          <a:solidFill>
            <a:srgbClr val="FBF7F6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85065" y="3146160"/>
            <a:ext cx="641598" cy="186266"/>
          </a:xfrm>
          <a:prstGeom prst="ellipse">
            <a:avLst/>
          </a:prstGeom>
          <a:solidFill>
            <a:srgbClr val="ECA2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2587" y="3758935"/>
            <a:ext cx="1354632" cy="592666"/>
          </a:xfrm>
          <a:prstGeom prst="roundRect">
            <a:avLst/>
          </a:prstGeom>
          <a:solidFill>
            <a:srgbClr val="CB2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904952" y="3758935"/>
            <a:ext cx="2400239" cy="592666"/>
          </a:xfrm>
          <a:prstGeom prst="roundRect">
            <a:avLst/>
          </a:prstGeom>
          <a:solidFill>
            <a:srgbClr val="FBF7F6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981150" y="3852068"/>
            <a:ext cx="545821" cy="186266"/>
          </a:xfrm>
          <a:prstGeom prst="ellipse">
            <a:avLst/>
          </a:prstGeom>
          <a:solidFill>
            <a:srgbClr val="D62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72924" y="3758935"/>
            <a:ext cx="2400239" cy="592666"/>
          </a:xfrm>
          <a:prstGeom prst="roundRect">
            <a:avLst/>
          </a:prstGeom>
          <a:solidFill>
            <a:srgbClr val="FBF7F6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449122" y="3852068"/>
            <a:ext cx="507987" cy="186266"/>
          </a:xfrm>
          <a:prstGeom prst="ellipse">
            <a:avLst/>
          </a:prstGeom>
          <a:solidFill>
            <a:srgbClr val="D84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840895" y="3758935"/>
            <a:ext cx="2400239" cy="592666"/>
          </a:xfrm>
          <a:prstGeom prst="roundRect">
            <a:avLst/>
          </a:prstGeom>
          <a:solidFill>
            <a:srgbClr val="FBF7F6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917093" y="3852068"/>
            <a:ext cx="507987" cy="186266"/>
          </a:xfrm>
          <a:prstGeom prst="ellipse">
            <a:avLst/>
          </a:prstGeom>
          <a:solidFill>
            <a:srgbClr val="E57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308867" y="3758935"/>
            <a:ext cx="2400239" cy="592666"/>
          </a:xfrm>
          <a:prstGeom prst="roundRect">
            <a:avLst/>
          </a:prstGeom>
          <a:solidFill>
            <a:srgbClr val="FBF7F6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385065" y="3852068"/>
            <a:ext cx="507987" cy="186266"/>
          </a:xfrm>
          <a:prstGeom prst="ellipse">
            <a:avLst/>
          </a:prstGeom>
          <a:solidFill>
            <a:srgbClr val="ECA2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82587" y="4419335"/>
            <a:ext cx="1354632" cy="638175"/>
          </a:xfrm>
          <a:prstGeom prst="roundRect">
            <a:avLst/>
          </a:prstGeom>
          <a:solidFill>
            <a:srgbClr val="CB2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904952" y="4419335"/>
            <a:ext cx="2400239" cy="638175"/>
          </a:xfrm>
          <a:prstGeom prst="roundRect">
            <a:avLst/>
          </a:prstGeom>
          <a:solidFill>
            <a:srgbClr val="FBF7F6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981150" y="4512468"/>
            <a:ext cx="571882" cy="186266"/>
          </a:xfrm>
          <a:prstGeom prst="ellipse">
            <a:avLst/>
          </a:prstGeom>
          <a:solidFill>
            <a:srgbClr val="D62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372924" y="4419335"/>
            <a:ext cx="2400239" cy="638175"/>
          </a:xfrm>
          <a:prstGeom prst="roundRect">
            <a:avLst/>
          </a:prstGeom>
          <a:solidFill>
            <a:srgbClr val="FBF7F6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449122" y="4512468"/>
            <a:ext cx="598472" cy="186266"/>
          </a:xfrm>
          <a:prstGeom prst="ellipse">
            <a:avLst/>
          </a:prstGeom>
          <a:solidFill>
            <a:srgbClr val="D84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840895" y="4419335"/>
            <a:ext cx="2400239" cy="638175"/>
          </a:xfrm>
          <a:prstGeom prst="roundRect">
            <a:avLst/>
          </a:prstGeom>
          <a:solidFill>
            <a:srgbClr val="FBF7F6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917093" y="4512468"/>
            <a:ext cx="598472" cy="186266"/>
          </a:xfrm>
          <a:prstGeom prst="ellipse">
            <a:avLst/>
          </a:prstGeom>
          <a:solidFill>
            <a:srgbClr val="E57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308867" y="4419335"/>
            <a:ext cx="2400239" cy="638175"/>
          </a:xfrm>
          <a:prstGeom prst="roundRect">
            <a:avLst/>
          </a:prstGeom>
          <a:solidFill>
            <a:srgbClr val="FBF7F6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385065" y="4512468"/>
            <a:ext cx="598472" cy="186266"/>
          </a:xfrm>
          <a:prstGeom prst="ellipse">
            <a:avLst/>
          </a:prstGeom>
          <a:solidFill>
            <a:srgbClr val="ECA2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82587" y="5125243"/>
            <a:ext cx="1354632" cy="592666"/>
          </a:xfrm>
          <a:prstGeom prst="roundRect">
            <a:avLst/>
          </a:prstGeom>
          <a:solidFill>
            <a:srgbClr val="CB2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904952" y="5125243"/>
            <a:ext cx="2400239" cy="592666"/>
          </a:xfrm>
          <a:prstGeom prst="roundRect">
            <a:avLst/>
          </a:prstGeom>
          <a:solidFill>
            <a:srgbClr val="FBF7F6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981150" y="5218377"/>
            <a:ext cx="507987" cy="186266"/>
          </a:xfrm>
          <a:prstGeom prst="ellipse">
            <a:avLst/>
          </a:prstGeom>
          <a:solidFill>
            <a:srgbClr val="D62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372924" y="5125243"/>
            <a:ext cx="2400239" cy="592666"/>
          </a:xfrm>
          <a:prstGeom prst="roundRect">
            <a:avLst/>
          </a:prstGeom>
          <a:solidFill>
            <a:srgbClr val="FBF7F6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49122" y="5218377"/>
            <a:ext cx="507987" cy="186266"/>
          </a:xfrm>
          <a:prstGeom prst="ellipse">
            <a:avLst/>
          </a:prstGeom>
          <a:solidFill>
            <a:srgbClr val="D84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840895" y="5125243"/>
            <a:ext cx="2400239" cy="592666"/>
          </a:xfrm>
          <a:prstGeom prst="roundRect">
            <a:avLst/>
          </a:prstGeom>
          <a:solidFill>
            <a:srgbClr val="FBF7F6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917093" y="5218377"/>
            <a:ext cx="507987" cy="186266"/>
          </a:xfrm>
          <a:prstGeom prst="ellipse">
            <a:avLst/>
          </a:prstGeom>
          <a:solidFill>
            <a:srgbClr val="E57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308867" y="5125243"/>
            <a:ext cx="2400239" cy="592666"/>
          </a:xfrm>
          <a:prstGeom prst="roundRect">
            <a:avLst/>
          </a:prstGeom>
          <a:solidFill>
            <a:srgbClr val="FBF7F6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385065" y="5218377"/>
            <a:ext cx="507987" cy="186266"/>
          </a:xfrm>
          <a:prstGeom prst="ellipse">
            <a:avLst/>
          </a:prstGeom>
          <a:solidFill>
            <a:srgbClr val="ECA2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31763" y="414866"/>
            <a:ext cx="67731" cy="313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D80000"/>
                </a:solidFill>
                <a:latin typeface="Microsoft YaHei"/>
              </a:rPr>
              <a:t>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743931" y="486833"/>
            <a:ext cx="948242" cy="1693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 i="0">
                <a:solidFill>
                  <a:srgbClr val="BE2A1D"/>
                </a:solidFill>
                <a:latin typeface="Microsoft YaHei"/>
              </a:rPr>
              <a:t>数字转型新动力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2715" y="484319"/>
            <a:ext cx="2449054" cy="3860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20242A"/>
                </a:solidFill>
                <a:latin typeface="Microsoft YaHei"/>
              </a:rPr>
              <a:t>CKP 实施与验证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2587" y="1075266"/>
            <a:ext cx="9990416" cy="2620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222832"/>
                </a:solidFill>
                <a:latin typeface="Microsoft YaHei"/>
              </a:rPr>
              <a:t>CKP 实施以 POC 成功标准、资源投入、实施路径与验收方式为核心，确保专项方案可量化、可验收、可对账。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5718" y="1709869"/>
            <a:ext cx="1920562" cy="213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BF2316"/>
                </a:solidFill>
                <a:latin typeface="Microsoft YaHei"/>
              </a:rPr>
              <a:t>≥90%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5718" y="1973923"/>
            <a:ext cx="1920562" cy="1256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25" b="1" i="0">
                <a:solidFill>
                  <a:srgbClr val="4F5968"/>
                </a:solidFill>
                <a:latin typeface="Microsoft YaHei"/>
              </a:rPr>
              <a:t>人工调整保留率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50274" y="1709869"/>
            <a:ext cx="1920562" cy="213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BF2316"/>
                </a:solidFill>
                <a:latin typeface="Microsoft YaHei"/>
              </a:rPr>
              <a:t>≥80%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50274" y="1973923"/>
            <a:ext cx="1920562" cy="1256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25" b="1" i="0">
                <a:solidFill>
                  <a:srgbClr val="4F5968"/>
                </a:solidFill>
                <a:latin typeface="Microsoft YaHei"/>
              </a:rPr>
              <a:t>增量处理比例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924831" y="1709869"/>
            <a:ext cx="1920562" cy="213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BF2316"/>
                </a:solidFill>
                <a:latin typeface="Microsoft YaHei"/>
              </a:rPr>
              <a:t>≥70%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24831" y="1973923"/>
            <a:ext cx="1920562" cy="1256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25" b="1" i="0">
                <a:solidFill>
                  <a:srgbClr val="4F5968"/>
                </a:solidFill>
                <a:latin typeface="Microsoft YaHei"/>
              </a:rPr>
              <a:t>重复调整工作量下降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99387" y="1709869"/>
            <a:ext cx="1920562" cy="213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BF2316"/>
                </a:solidFill>
                <a:latin typeface="Microsoft YaHei"/>
              </a:rPr>
              <a:t>≥95%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99387" y="1973923"/>
            <a:ext cx="1920562" cy="1256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25" b="1" i="0">
                <a:solidFill>
                  <a:srgbClr val="4F5968"/>
                </a:solidFill>
                <a:latin typeface="Microsoft YaHei"/>
              </a:rPr>
              <a:t>Golden Set 回归通过率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07808" y="1709869"/>
            <a:ext cx="2274301" cy="1624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E2618"/>
                </a:solidFill>
                <a:latin typeface="Microsoft YaHei"/>
              </a:rPr>
              <a:t>CKP 实施回顾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07808" y="1923123"/>
            <a:ext cx="2274301" cy="424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>
                <a:solidFill>
                  <a:srgbClr val="313B47"/>
                </a:solidFill>
                <a:latin typeface="Microsoft YaHei"/>
              </a:rPr>
              <a:t>以 POC 成功标准、资源投入、阶段交付和验收口径为主线，确保 CKP 从验证走向生产时具备清晰的进度视图与对账依据。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904952" y="2728780"/>
            <a:ext cx="2400239" cy="2565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75" b="1" i="0">
                <a:solidFill>
                  <a:srgbClr val="FFFFFF"/>
                </a:solidFill>
                <a:latin typeface="Microsoft YaHei"/>
              </a:rPr>
              <a:t>POC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72924" y="2728780"/>
            <a:ext cx="2400239" cy="2565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75" b="1" i="0">
                <a:solidFill>
                  <a:srgbClr val="FFFFFF"/>
                </a:solidFill>
                <a:latin typeface="Microsoft YaHei"/>
              </a:rPr>
              <a:t>Core Development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40895" y="2728780"/>
            <a:ext cx="2400239" cy="2565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75" b="1" i="0">
                <a:solidFill>
                  <a:srgbClr val="FFFFFF"/>
                </a:solidFill>
                <a:latin typeface="Microsoft YaHei"/>
              </a:rPr>
              <a:t>Integration / UAT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08867" y="2728780"/>
            <a:ext cx="2400239" cy="2565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75" b="1" i="0">
                <a:solidFill>
                  <a:srgbClr val="FFFFFF"/>
                </a:solidFill>
                <a:latin typeface="Microsoft YaHei"/>
              </a:rPr>
              <a:t>Rollout / Hypercare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82587" y="3053027"/>
            <a:ext cx="1354632" cy="638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icrosoft YaHei"/>
              </a:rPr>
              <a:t>实施路径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981150" y="3146160"/>
            <a:ext cx="588021" cy="18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Microsoft YaHei"/>
              </a:rPr>
              <a:t>Discovery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981150" y="3383227"/>
            <a:ext cx="2247843" cy="12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303946"/>
                </a:solidFill>
                <a:latin typeface="Microsoft YaHei"/>
              </a:rPr>
              <a:t>完成现状评估、问题归因、目标架构和 POC 范围确认。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449122" y="3146160"/>
            <a:ext cx="611172" cy="18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Microsoft YaHei"/>
              </a:rPr>
              <a:t>Core Build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449122" y="3383227"/>
            <a:ext cx="2247843" cy="2402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303946"/>
                </a:solidFill>
                <a:latin typeface="Microsoft YaHei"/>
              </a:rPr>
              <a:t>建设稳定对象模型、Chunk 版本控制、增量处理与规则沉淀机制。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17093" y="3146160"/>
            <a:ext cx="649668" cy="18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Microsoft YaHei"/>
              </a:rPr>
              <a:t>Bailian 接入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917093" y="3383227"/>
            <a:ext cx="2247843" cy="12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303946"/>
                </a:solidFill>
                <a:latin typeface="Microsoft YaHei"/>
              </a:rPr>
              <a:t>完成集成、迁移、UAT 与评测链路打通。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385065" y="3146160"/>
            <a:ext cx="641598" cy="18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Microsoft YaHei"/>
              </a:rPr>
              <a:t>Production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385065" y="3383227"/>
            <a:ext cx="2247843" cy="12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303946"/>
                </a:solidFill>
                <a:latin typeface="Microsoft YaHei"/>
              </a:rPr>
              <a:t>完成上线、Hypercare 与运行监控，形成生产机制。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2587" y="3758935"/>
            <a:ext cx="1354632" cy="592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icrosoft YaHei"/>
              </a:rPr>
              <a:t>核心交付件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981150" y="3852068"/>
            <a:ext cx="545821" cy="18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Microsoft YaHei"/>
              </a:rPr>
              <a:t>POC 报告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981150" y="4089135"/>
            <a:ext cx="2247843" cy="12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303946"/>
                </a:solidFill>
                <a:latin typeface="Microsoft YaHei"/>
              </a:rPr>
              <a:t>输出问题清单、方案边界、成功标准与资源估算。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449122" y="3852068"/>
            <a:ext cx="507987" cy="18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Microsoft YaHei"/>
              </a:rPr>
              <a:t>设计方案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449122" y="4089135"/>
            <a:ext cx="2247843" cy="12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303946"/>
                </a:solidFill>
                <a:latin typeface="Microsoft YaHei"/>
              </a:rPr>
              <a:t>形成对象模型、处理流程、评测方法与迁移计划。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17093" y="3852068"/>
            <a:ext cx="507987" cy="18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Microsoft YaHei"/>
              </a:rPr>
              <a:t>验收材料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917093" y="4089135"/>
            <a:ext cx="2247843" cy="12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303946"/>
                </a:solidFill>
                <a:latin typeface="Microsoft YaHei"/>
              </a:rPr>
              <a:t>形成回归结果、UAT 记录和实施验证报告。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385065" y="3852068"/>
            <a:ext cx="507987" cy="18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Microsoft YaHei"/>
              </a:rPr>
              <a:t>运行手册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385065" y="4089135"/>
            <a:ext cx="2247843" cy="12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303946"/>
                </a:solidFill>
                <a:latin typeface="Microsoft YaHei"/>
              </a:rPr>
              <a:t>沉淀上线手册、运维机制和持续优化建议。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82587" y="4419335"/>
            <a:ext cx="1354632" cy="638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icrosoft YaHei"/>
              </a:rPr>
              <a:t>资源结构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981150" y="4512468"/>
            <a:ext cx="571882" cy="18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Microsoft YaHei"/>
              </a:rPr>
              <a:t>架构 / PM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981150" y="4749535"/>
            <a:ext cx="2247843" cy="2402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303946"/>
                </a:solidFill>
                <a:latin typeface="Microsoft YaHei"/>
              </a:rPr>
              <a:t>Solution Architect、PM / BA 负责方案定义与边界收敛。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449122" y="4512468"/>
            <a:ext cx="598472" cy="18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Microsoft YaHei"/>
              </a:rPr>
              <a:t>研发 / 知识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449122" y="4749535"/>
            <a:ext cx="2247843" cy="2402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303946"/>
                </a:solidFill>
                <a:latin typeface="Microsoft YaHei"/>
              </a:rPr>
              <a:t>RAG / Knowledge、Python / Backend 负责核心能力实现。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917093" y="4512468"/>
            <a:ext cx="598472" cy="18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Microsoft YaHei"/>
              </a:rPr>
              <a:t>集成 / 验收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917093" y="4749535"/>
            <a:ext cx="2247843" cy="2402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303946"/>
                </a:solidFill>
                <a:latin typeface="Microsoft YaHei"/>
              </a:rPr>
              <a:t>Bailian Integration、QA / Evaluation、UAT 协同完成验证。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385065" y="4512468"/>
            <a:ext cx="598472" cy="18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Microsoft YaHei"/>
              </a:rPr>
              <a:t>运维 / 复盘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385065" y="4749535"/>
            <a:ext cx="2247843" cy="12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303946"/>
                </a:solidFill>
                <a:latin typeface="Microsoft YaHei"/>
              </a:rPr>
              <a:t>DevOps 与 PM / BA 负责运行期问题收敛与复盘。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82587" y="5125243"/>
            <a:ext cx="1354632" cy="5926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icrosoft YaHei"/>
              </a:rPr>
              <a:t>验收口径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981150" y="5218377"/>
            <a:ext cx="507987" cy="18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Microsoft YaHei"/>
              </a:rPr>
              <a:t>口径确认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981150" y="5455443"/>
            <a:ext cx="2247843" cy="12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303946"/>
                </a:solidFill>
                <a:latin typeface="Microsoft YaHei"/>
              </a:rPr>
              <a:t>确认人工调整保留率、增量处理比例与成功阈值。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449122" y="5218377"/>
            <a:ext cx="507987" cy="18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Microsoft YaHei"/>
              </a:rPr>
              <a:t>中期评估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449122" y="5455443"/>
            <a:ext cx="2247843" cy="12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303946"/>
                </a:solidFill>
                <a:latin typeface="Microsoft YaHei"/>
              </a:rPr>
              <a:t>验证重复劳动下降与处理稳定性指标。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917093" y="5218377"/>
            <a:ext cx="507987" cy="18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Microsoft YaHei"/>
              </a:rPr>
              <a:t>回归验证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917093" y="5455443"/>
            <a:ext cx="2247843" cy="12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303946"/>
                </a:solidFill>
                <a:latin typeface="Microsoft YaHei"/>
              </a:rPr>
              <a:t>以 Golden Set 回归通过率作为关键验收依据。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385065" y="5218377"/>
            <a:ext cx="507987" cy="1862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Microsoft YaHei"/>
              </a:rPr>
              <a:t>正式对账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385065" y="5455443"/>
            <a:ext cx="2247843" cy="12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303946"/>
                </a:solidFill>
                <a:latin typeface="Microsoft YaHei"/>
              </a:rPr>
              <a:t>以最终指标结果、报告与运行数据完成交付对账。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267396" y="6468533"/>
            <a:ext cx="424777" cy="1439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 i="0">
                <a:solidFill>
                  <a:srgbClr val="8B95A3"/>
                </a:solidFill>
                <a:latin typeface="Microsoft YaHe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